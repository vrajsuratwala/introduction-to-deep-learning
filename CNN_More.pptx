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CNN -  Convolutional Nueral Network- More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altLang="en-US"/>
              <a:t>Fully Connected Neural Network vs CNN</a:t>
            </a:r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68680" y="1141730"/>
          <a:ext cx="10485120" cy="5504180"/>
        </p:xfrm>
        <a:graphic>
          <a:graphicData uri="http://schemas.openxmlformats.org/drawingml/2006/table">
            <a:tbl>
              <a:tblPr/>
              <a:tblGrid>
                <a:gridCol w="2279650"/>
                <a:gridCol w="3726815"/>
                <a:gridCol w="4478655"/>
              </a:tblGrid>
              <a:tr h="404495">
                <a:tc>
                  <a:txBody>
                    <a:bodyPr/>
                    <a:p>
                      <a:pPr algn="ctr"/>
                      <a:r>
                        <a:rPr sz="2400" b="1" u="sng"/>
                        <a:t>Basis</a:t>
                      </a:r>
                      <a:endParaRPr sz="2400" b="1" u="sng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 u="sng"/>
                        <a:t>Fully Connected Neural Network (FCNN)</a:t>
                      </a:r>
                      <a:endParaRPr sz="2400" b="1" u="sng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 u="sng"/>
                        <a:t>Convolutional Neural Network (CNN)</a:t>
                      </a:r>
                      <a:endParaRPr sz="2400" b="1" u="sng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7085">
                <a:tc>
                  <a:txBody>
                    <a:bodyPr/>
                    <a:p>
                      <a:pPr algn="ctr"/>
                      <a:r>
                        <a:rPr sz="2000"/>
                        <a:t>Basic idea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Every neuron in one layer is connected to every neuron in the next layer.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Uses convolutional filters to process local regions of the input.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3860">
                <a:tc>
                  <a:txBody>
                    <a:bodyPr/>
                    <a:p>
                      <a:pPr algn="ctr"/>
                      <a:r>
                        <a:rPr sz="2000"/>
                        <a:t>Connections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Fully connected.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Local/receptive-field connections in convolution layers.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3860">
                <a:tc>
                  <a:txBody>
                    <a:bodyPr/>
                    <a:p>
                      <a:pPr algn="ctr"/>
                      <a:r>
                        <a:rPr sz="2000"/>
                        <a:t>Input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Usually requires input to be represented as a vector.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Can directly process structured grid-like data such as images.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8495">
                <a:tc>
                  <a:txBody>
                    <a:bodyPr/>
                    <a:p>
                      <a:pPr algn="ctr"/>
                      <a:r>
                        <a:rPr sz="2000"/>
                        <a:t>Spatial information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Spatial relationships can be lost when an image is flattened.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Preserves and exploits spatial relationships.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7085">
                <a:tc>
                  <a:txBody>
                    <a:bodyPr/>
                    <a:p>
                      <a:pPr algn="ctr"/>
                      <a:r>
                        <a:rPr sz="2000"/>
                        <a:t>Feature extraction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Usually learns features through fully connected transformations.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Automatically learns local features such as edges, textures, and shapes.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8990">
                <a:tc>
                  <a:txBody>
                    <a:bodyPr/>
                    <a:p>
                      <a:pPr algn="ctr"/>
                      <a:r>
                        <a:rPr sz="2000"/>
                        <a:t>Parameters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Generally very large for high-dimensional inputs.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Usually fewer parameters due to local connectivity and weight sharing.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828675" y="292100"/>
          <a:ext cx="10525125" cy="5992495"/>
        </p:xfrm>
        <a:graphic>
          <a:graphicData uri="http://schemas.openxmlformats.org/drawingml/2006/table">
            <a:tbl>
              <a:tblPr/>
              <a:tblGrid>
                <a:gridCol w="2287905"/>
                <a:gridCol w="3741420"/>
                <a:gridCol w="4495800"/>
              </a:tblGrid>
              <a:tr h="1126490">
                <a:tc>
                  <a:txBody>
                    <a:bodyPr/>
                    <a:p>
                      <a:pPr algn="ctr"/>
                      <a:r>
                        <a:rPr sz="2000"/>
                        <a:t>Weight sharing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No weight sharing between different connections.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Same filter weights are applied across different spatial locations.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27125">
                <a:tc>
                  <a:txBody>
                    <a:bodyPr/>
                    <a:p>
                      <a:pPr algn="ctr"/>
                      <a:r>
                        <a:rPr sz="2000"/>
                        <a:t>Image processing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Less efficient for large images.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Particularly suitable for image-related tasks.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26490">
                <a:tc>
                  <a:txBody>
                    <a:bodyPr/>
                    <a:p>
                      <a:pPr algn="ctr"/>
                      <a:r>
                        <a:rPr sz="2000"/>
                        <a:t>Main layers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Fully connected/dense layers.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Convolution, activation, pooling, and often fully connected layers.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0750">
                <a:tc>
                  <a:txBody>
                    <a:bodyPr/>
                    <a:p>
                      <a:pPr algn="ctr"/>
                      <a:r>
                        <a:rPr sz="2000"/>
                        <a:t>Computational efficiency for images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Can require many parameters.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More parameter-efficient for image data.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26490">
                <a:tc>
                  <a:txBody>
                    <a:bodyPr/>
                    <a:p>
                      <a:pPr algn="ctr"/>
                      <a:r>
                        <a:rPr sz="2000"/>
                        <a:t>Common applications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Tabular data, classification, regression, general prediction.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Image classification, object detection, image segmentation, medical image analysis.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5150">
                <a:tc>
                  <a:txBody>
                    <a:bodyPr/>
                    <a:p>
                      <a:pPr algn="ctr"/>
                      <a:r>
                        <a:rPr lang="en-US" sz="2000"/>
                        <a:t>Example</a:t>
                      </a:r>
                      <a:endParaRPr 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MLP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LeNet, AlexNet, VGG, ResNet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Variants of Basic Convolutional Function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fundamental operation in a Convolutional Neural Network (CNN)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Variants of Basic Convolutional Function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 convolutional function is the fundamental operation in a Convolutional Neural Network (CNN). It applies a small filter/kernel over the input and calculates weighted sums to extract features such as edges, textures, and shapes.</a:t>
            </a:r>
            <a:endParaRPr lang="en-US" altLang="en-US"/>
          </a:p>
          <a:p>
            <a:r>
              <a:rPr lang="en-US" altLang="en-US"/>
              <a:t>There are several important variants of the basic convolution operation.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1. Standard Convolution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6305" y="1691005"/>
            <a:ext cx="9904730" cy="2581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2. Strided Convolution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4405" y="1572895"/>
            <a:ext cx="10187940" cy="3508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3. Padded Convolution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13840"/>
            <a:ext cx="10253345" cy="3879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4. </a:t>
            </a:r>
            <a:r>
              <a:rPr lang="en-US" altLang="en-US"/>
              <a:t>Dilated (Atrous) Convolution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8695" y="1516380"/>
            <a:ext cx="10428605" cy="3844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5. </a:t>
            </a:r>
            <a:r>
              <a:rPr lang="en-US" altLang="en-US"/>
              <a:t>Transposed Convolution</a:t>
            </a:r>
            <a:r>
              <a:rPr lang="en-US"/>
              <a:t>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0915" y="1691005"/>
            <a:ext cx="9780270" cy="38423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6. Depthwise Convolution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1230" y="1586865"/>
            <a:ext cx="10106660" cy="3646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7. </a:t>
            </a:r>
            <a:r>
              <a:rPr lang="en-US" altLang="en-US"/>
              <a:t>Pointwise Convolution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7900" y="1457960"/>
            <a:ext cx="10778490" cy="41382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Suratwala Vraj 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5*433"/>
  <p:tag name="TABLE_ENDDRAG_RECT" val="68*89*825*433"/>
</p:tagLst>
</file>

<file path=ppt/tags/tag2.xml><?xml version="1.0" encoding="utf-8"?>
<p:tagLst xmlns:p="http://schemas.openxmlformats.org/presentationml/2006/main">
  <p:tag name="TABLE_ENDDRAG_ORIGIN_RECT" val="828*471"/>
  <p:tag name="TABLE_ENDDRAG_RECT" val="65*155*828*47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2244</Words>
  <Application>WPS Presentation</Application>
  <PresentationFormat>Widescreen</PresentationFormat>
  <Paragraphs>113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Vraj Suratwala</dc:creator>
  <cp:lastModifiedBy>Vraj Suratwala</cp:lastModifiedBy>
  <cp:revision>19</cp:revision>
  <dcterms:created xsi:type="dcterms:W3CDTF">2025-07-23T00:59:00Z</dcterms:created>
  <dcterms:modified xsi:type="dcterms:W3CDTF">2026-09-22T10:15:17Z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AA4F3554D17146478FEA0CC63ECFACC2_11</vt:lpwstr>
  </property>
  <property fmtid="{D5CDD505-2E9C-101B-9397-08002B2CF9AE}" pid="3" name="KSOProductBuildVer">
    <vt:lpwstr>1033-12.1.0.25862</vt:lpwstr>
  </property>
</Properties>
</file>