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4" r:id="rId48"/>
    <p:sldId id="306" r:id="rId49"/>
    <p:sldId id="307" r:id="rId50"/>
    <p:sldId id="308" r:id="rId51"/>
    <p:sldId id="31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4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5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6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7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image" Target="../media/image8.png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9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image" Target="../media/image10.png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3" Type="http://schemas.openxmlformats.org/officeDocument/2006/relationships/image" Target="../media/image11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4.xml"/><Relationship Id="rId3" Type="http://schemas.openxmlformats.org/officeDocument/2006/relationships/image" Target="../media/image12.pn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image" Target="../media/image13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Relationship Id="rId3" Type="http://schemas.openxmlformats.org/officeDocument/2006/relationships/image" Target="../media/image14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3" Type="http://schemas.openxmlformats.org/officeDocument/2006/relationships/image" Target="../media/image15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8.xml"/><Relationship Id="rId3" Type="http://schemas.openxmlformats.org/officeDocument/2006/relationships/image" Target="../media/image16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4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3.xml"/><Relationship Id="rId3" Type="http://schemas.openxmlformats.org/officeDocument/2006/relationships/image" Target="../media/image23.png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6.xml"/><Relationship Id="rId3" Type="http://schemas.openxmlformats.org/officeDocument/2006/relationships/image" Target="../media/image24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2.xml"/><Relationship Id="rId3" Type="http://schemas.openxmlformats.org/officeDocument/2006/relationships/image" Target="../media/image25.png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5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2" Type="http://schemas.openxmlformats.org/officeDocument/2006/relationships/image" Target="../media/image28.png"/><Relationship Id="rId1" Type="http://schemas.openxmlformats.org/officeDocument/2006/relationships/tags" Target="../tags/tag176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0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3.xml"/><Relationship Id="rId3" Type="http://schemas.openxmlformats.org/officeDocument/2006/relationships/image" Target="../media/image31.png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6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9.xml"/><Relationship Id="rId3" Type="http://schemas.openxmlformats.org/officeDocument/2006/relationships/image" Target="../media/image34.png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Deep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Overview of Supervised Learning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 to Supervised Learning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Supervised Learning is a type of Machine Learning in which a model learns from a dataset containing both:</a:t>
            </a:r>
            <a:endParaRPr lang="en-US" altLang="en-US"/>
          </a:p>
          <a:p>
            <a:pPr lvl="1"/>
            <a:r>
              <a:rPr lang="en-US" altLang="en-US"/>
              <a:t>Input data (features)</a:t>
            </a:r>
            <a:endParaRPr lang="en-US" altLang="en-US"/>
          </a:p>
          <a:p>
            <a:pPr lvl="1"/>
            <a:r>
              <a:rPr lang="en-US" altLang="en-US"/>
              <a:t>Correct output (target/label)</a:t>
            </a:r>
            <a:endParaRPr lang="en-US" altLang="en-US"/>
          </a:p>
          <a:p>
            <a:r>
              <a:rPr lang="en-US" altLang="en-US"/>
              <a:t>The objective is to learn a mapping between input and output so that the trained model can predict the correct output for new, unseen data.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Working of Supervised Learning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10005" y="1490345"/>
            <a:ext cx="956437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Mathamatical Representation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Mathematically, supervised learning attempts to learn:</a:t>
            </a:r>
            <a:endParaRPr lang="en-US" altLang="en-US"/>
          </a:p>
          <a:p>
            <a:r>
              <a:rPr lang="en-US" altLang="en-US"/>
              <a:t>Y = f(X) </a:t>
            </a:r>
            <a:endParaRPr lang="en-US" altLang="en-US"/>
          </a:p>
          <a:p>
            <a:r>
              <a:rPr lang="en-US" altLang="en-US"/>
              <a:t>where:</a:t>
            </a:r>
            <a:endParaRPr lang="en-US" altLang="en-US"/>
          </a:p>
          <a:p>
            <a:pPr lvl="1"/>
            <a:r>
              <a:rPr lang="en-US" altLang="en-US"/>
              <a:t>(X) = input/features</a:t>
            </a:r>
            <a:endParaRPr lang="en-US" altLang="en-US"/>
          </a:p>
          <a:p>
            <a:pPr lvl="1"/>
            <a:r>
              <a:rPr lang="en-US" altLang="en-US"/>
              <a:t>(Y) = actual output/target</a:t>
            </a:r>
            <a:endParaRPr lang="en-US" altLang="en-US"/>
          </a:p>
          <a:p>
            <a:pPr lvl="1"/>
            <a:r>
              <a:rPr lang="en-US" altLang="en-US"/>
              <a:t>(f) = function learned by the model</a:t>
            </a:r>
            <a:endParaRPr lang="en-US" altLang="en-US"/>
          </a:p>
          <a:p>
            <a:r>
              <a:rPr lang="en-US" altLang="en-US"/>
              <a:t>For a new input \(X_{new}\):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{Y}=f(X_{new})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Component of Supervised Learning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 Input Feature</a:t>
            </a:r>
            <a:endParaRPr lang="en-US"/>
          </a:p>
          <a:p>
            <a:r>
              <a:rPr lang="en-US"/>
              <a:t>2. Target/ Label</a:t>
            </a:r>
            <a:endParaRPr lang="en-US"/>
          </a:p>
          <a:p>
            <a:r>
              <a:rPr lang="en-US"/>
              <a:t>3. Training Dataset</a:t>
            </a:r>
            <a:endParaRPr lang="en-US"/>
          </a:p>
          <a:p>
            <a:r>
              <a:rPr lang="en-US"/>
              <a:t>4. Model </a:t>
            </a:r>
            <a:endParaRPr lang="en-US"/>
          </a:p>
          <a:p>
            <a:r>
              <a:rPr lang="en-US"/>
              <a:t>5. Loss Function </a:t>
            </a:r>
            <a:endParaRPr lang="en-US"/>
          </a:p>
          <a:p>
            <a:r>
              <a:rPr lang="en-US"/>
              <a:t>6. Learning/ Optimization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Supervised Learning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0410" y="1641475"/>
            <a:ext cx="10515600" cy="2857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A. Classification</a:t>
            </a:r>
            <a:endParaRPr lang="en-US"/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Classification predicts a categorical/discrete output.</a:t>
            </a:r>
            <a:endParaRPr lang="en-US" altLang="en-US"/>
          </a:p>
          <a:p>
            <a:pPr lvl="1"/>
            <a:r>
              <a:rPr lang="en-US" altLang="en-US"/>
              <a:t>three examples:</a:t>
            </a:r>
            <a:endParaRPr lang="en-US" altLang="en-US"/>
          </a:p>
          <a:p>
            <a:pPr lvl="1"/>
            <a:r>
              <a:rPr lang="en-US" altLang="en-US"/>
              <a:t>Disease / No Disease</a:t>
            </a:r>
            <a:endParaRPr lang="en-US" altLang="en-US"/>
          </a:p>
          <a:p>
            <a:pPr lvl="1"/>
            <a:r>
              <a:rPr lang="en-US" altLang="en-US"/>
              <a:t>Cat / Dog</a:t>
            </a:r>
            <a:endParaRPr lang="en-US" altLang="en-US"/>
          </a:p>
          <a:p>
            <a:r>
              <a:rPr lang="en-US" altLang="en-US"/>
              <a:t>Types of Classification : </a:t>
            </a:r>
            <a:endParaRPr lang="en-US" altLang="en-US"/>
          </a:p>
          <a:p>
            <a:pPr lvl="1"/>
            <a:r>
              <a:rPr lang="en-US" altLang="en-US" sz="1600"/>
              <a:t>1. Binary Classification</a:t>
            </a:r>
            <a:endParaRPr lang="en-US" altLang="en-US" sz="1600"/>
          </a:p>
          <a:p>
            <a:pPr lvl="1"/>
            <a:r>
              <a:rPr lang="en-US" altLang="en-US" sz="1600"/>
              <a:t>2. Multi-Class Classification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r="52681"/>
          <a:stretch>
            <a:fillRect/>
          </a:stretch>
        </p:blipFill>
        <p:spPr>
          <a:xfrm>
            <a:off x="6245225" y="2153920"/>
            <a:ext cx="4864735" cy="23094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B. Regression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Regression predicts a continuous numerical value.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pPr lvl="1"/>
            <a:r>
              <a:rPr lang="en-US" altLang="en-US"/>
              <a:t>House price prediction</a:t>
            </a:r>
            <a:endParaRPr lang="en-US" altLang="en-US"/>
          </a:p>
          <a:p>
            <a:pPr lvl="1"/>
            <a:r>
              <a:rPr lang="en-US" altLang="en-US"/>
              <a:t>Temperature prediction</a:t>
            </a:r>
            <a:endParaRPr lang="en-US" altLang="en-US"/>
          </a:p>
          <a:p>
            <a:pPr lvl="1"/>
            <a:r>
              <a:rPr lang="en-US" altLang="en-US"/>
              <a:t>Stock-price estimation</a:t>
            </a:r>
            <a:endParaRPr lang="en-US" altLang="en-US"/>
          </a:p>
          <a:p>
            <a:pPr lvl="1"/>
            <a:r>
              <a:rPr lang="en-US" altLang="en-US"/>
              <a:t>Sales forecasting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For example:</a:t>
            </a:r>
            <a:endParaRPr lang="en-US" altLang="en-US"/>
          </a:p>
          <a:p>
            <a:pPr lvl="1"/>
            <a:r>
              <a:rPr lang="en-US" altLang="en-US"/>
              <a:t>Input rightarrow Model rightarrow ₹75,42,000 </a:t>
            </a:r>
            <a:endParaRPr lang="en-US" altLang="en-US"/>
          </a:p>
          <a:p>
            <a:pPr lvl="1"/>
            <a:r>
              <a:rPr lang="en-US" altLang="en-US"/>
              <a:t>The output is not simply one of a fixed set of classes.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Supervised Learning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 Collect Data</a:t>
            </a:r>
            <a:endParaRPr lang="en-US"/>
          </a:p>
          <a:p>
            <a:r>
              <a:rPr lang="en-US"/>
              <a:t>2. Prepare Data</a:t>
            </a:r>
            <a:endParaRPr lang="en-US"/>
          </a:p>
          <a:p>
            <a:r>
              <a:rPr lang="en-US"/>
              <a:t>3. Split Dataset - Testing Dataset, Validation Dataset, Training Dataset</a:t>
            </a:r>
            <a:endParaRPr lang="en-US"/>
          </a:p>
          <a:p>
            <a:r>
              <a:rPr lang="en-US"/>
              <a:t>4. Train Model </a:t>
            </a:r>
            <a:endParaRPr lang="en-US"/>
          </a:p>
          <a:p>
            <a:r>
              <a:rPr lang="en-US"/>
              <a:t>5. Calculate Loss</a:t>
            </a:r>
            <a:endParaRPr lang="en-US"/>
          </a:p>
          <a:p>
            <a:r>
              <a:rPr lang="en-US"/>
              <a:t>6. Update Parameters </a:t>
            </a:r>
            <a:endParaRPr lang="en-US"/>
          </a:p>
          <a:p>
            <a:r>
              <a:rPr lang="en-US"/>
              <a:t>7. Test Model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Uses known target outputs for learning.</a:t>
            </a:r>
            <a:endParaRPr lang="en-US" altLang="en-US"/>
          </a:p>
          <a:p>
            <a:r>
              <a:rPr lang="en-US" altLang="en-US"/>
              <a:t>Performance can be quantitatively evaluated.</a:t>
            </a:r>
            <a:endParaRPr lang="en-US" altLang="en-US"/>
          </a:p>
          <a:p>
            <a:r>
              <a:rPr lang="en-US" altLang="en-US"/>
              <a:t>Useful for prediction and classification.</a:t>
            </a:r>
            <a:endParaRPr lang="en-US" altLang="en-US"/>
          </a:p>
          <a:p>
            <a:r>
              <a:rPr lang="en-US" altLang="en-US"/>
              <a:t>Can solve complex real-world problems.</a:t>
            </a:r>
            <a:endParaRPr lang="en-US" altLang="en-US"/>
          </a:p>
          <a:p>
            <a:r>
              <a:rPr lang="en-US" altLang="en-US"/>
              <a:t>Deep neural networks can automatically learn complex relationships from large datasets.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Disadvantages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Requires labelled training data.</a:t>
            </a:r>
            <a:endParaRPr lang="en-US" altLang="en-US"/>
          </a:p>
          <a:p>
            <a:r>
              <a:rPr lang="en-US" altLang="en-US"/>
              <a:t>Preparing labelled data can be expensive and time-consuming.</a:t>
            </a:r>
            <a:endParaRPr lang="en-US" altLang="en-US"/>
          </a:p>
          <a:p>
            <a:r>
              <a:rPr lang="en-US" altLang="en-US"/>
              <a:t>Poor-quality labels can produce poor models.</a:t>
            </a:r>
            <a:endParaRPr lang="en-US" altLang="en-US"/>
          </a:p>
          <a:p>
            <a:r>
              <a:rPr lang="en-US" altLang="en-US"/>
              <a:t>Models can overfit the training data.</a:t>
            </a:r>
            <a:endParaRPr lang="en-US" altLang="en-US"/>
          </a:p>
          <a:p>
            <a:r>
              <a:rPr lang="en-US" altLang="en-US"/>
              <a:t>Performance depends strongly on the quality and representativeness of the training data.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>
                <a:sym typeface="+mn-ea"/>
              </a:rPr>
              <a:t>Fundamental of Neural Network&amp; Deep Learning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1.2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FUNDAMENTAL OF NN &amp; DL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/>
              <a:t>What is a Neural Network?</a:t>
            </a:r>
            <a:endParaRPr lang="en-US" altLang="en-US"/>
          </a:p>
          <a:p>
            <a:r>
              <a:rPr lang="en-US" altLang="en-US"/>
              <a:t>An Artificial Neural Network (ANN) is a computational model inspired by the structure and functioning of biological neural networks.</a:t>
            </a:r>
            <a:endParaRPr lang="en-US" altLang="en-US"/>
          </a:p>
          <a:p>
            <a:r>
              <a:rPr lang="en-US" altLang="en-US"/>
              <a:t>It consists of interconnected computational units called neurons.</a:t>
            </a:r>
            <a:endParaRPr lang="en-US" altLang="en-US"/>
          </a:p>
          <a:p>
            <a:r>
              <a:rPr lang="en-US" altLang="en-US"/>
              <a:t>A neural network learns a relationship between inputs and outputs by adjusting its internal parameters, primarily weights and biases.</a:t>
            </a:r>
            <a:endParaRPr lang="en-US" altLang="en-US"/>
          </a:p>
          <a:p>
            <a:r>
              <a:rPr lang="en-US" altLang="en-US" sz="2400"/>
              <a:t>Biological Neuron</a:t>
            </a:r>
            <a:endParaRPr lang="en-US" altLang="en-US" sz="2400"/>
          </a:p>
          <a:p>
            <a:r>
              <a:rPr lang="en-US" altLang="en-US"/>
              <a:t>The artificial neuron was inspired by the biological neuron.</a:t>
            </a:r>
            <a:endParaRPr lang="en-US" altLang="en-US"/>
          </a:p>
          <a:p>
            <a:r>
              <a:rPr lang="en-US" altLang="en-US"/>
              <a:t>A biological neuron approximately consists of: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275" y="3975735"/>
            <a:ext cx="2625725" cy="28822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10968990" cy="61588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Artificial Neuron</a:t>
            </a:r>
            <a:endParaRPr lang="en-US" altLang="en-US"/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An artificial neuron receives multiple inputs, applies weights, adds a bias, and passes the result through an activation function.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515235"/>
            <a:ext cx="10223500" cy="3873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Mathematical Representation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5485" y="1313815"/>
            <a:ext cx="7745730" cy="5205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69265"/>
            <a:ext cx="10968990" cy="5780405"/>
          </a:xfrm>
        </p:spPr>
        <p:txBody>
          <a:bodyPr/>
          <a:p>
            <a:pPr marL="0" indent="0">
              <a:buNone/>
            </a:pPr>
            <a:r>
              <a:rPr lang="en-US" altLang="en-US" sz="2400" b="1" u="sng">
                <a:latin typeface="Arial Bold" panose="020B0604020202090204" charset="0"/>
                <a:cs typeface="Arial Bold" panose="020B0604020202090204" charset="0"/>
              </a:rPr>
              <a:t>Role of Weights</a:t>
            </a:r>
            <a:endParaRPr lang="en-US" altLang="en-US" sz="2400" b="1" u="sng">
              <a:latin typeface="Arial Bold" panose="020B0604020202090204" charset="0"/>
              <a:cs typeface="Arial Bold" panose="020B0604020202090204" charset="0"/>
            </a:endParaRPr>
          </a:p>
          <a:p>
            <a:pPr marL="0" indent="0">
              <a:buNone/>
            </a:pPr>
            <a:endParaRPr lang="en-US" altLang="en-US" sz="2400" b="1" u="sng"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4" name="Picture 3" descr="Screenshot 2026-09-01 at 9.42.5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" y="1371600"/>
            <a:ext cx="10704830" cy="36595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Role of Bias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1360" y="1490980"/>
            <a:ext cx="9918700" cy="421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Deep Learning?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Deep Learning is a subfield of Machine Learning that uses neural networks containing multiple layers to learn increasingly complex representations of data.</a:t>
            </a:r>
            <a:endParaRPr lang="en-US" altLang="en-US"/>
          </a:p>
          <a:p>
            <a:r>
              <a:rPr lang="en-US" altLang="en-US"/>
              <a:t>A simple conceptual hierarchy is: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30" y="2853690"/>
            <a:ext cx="9918700" cy="3619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8488680" cy="557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Neural Network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 basic neural network consists of:</a:t>
            </a:r>
            <a:endParaRPr lang="en-US" altLang="en-US"/>
          </a:p>
          <a:p>
            <a:pPr lvl="1"/>
            <a:r>
              <a:rPr lang="en-US" altLang="en-US"/>
              <a:t>Input layer</a:t>
            </a:r>
            <a:endParaRPr lang="en-US" altLang="en-US"/>
          </a:p>
          <a:p>
            <a:pPr lvl="1"/>
            <a:r>
              <a:rPr lang="en-US" altLang="en-US"/>
              <a:t>Hidden layer(s)</a:t>
            </a:r>
            <a:endParaRPr lang="en-US" altLang="en-US"/>
          </a:p>
          <a:p>
            <a:pPr lvl="1"/>
            <a:r>
              <a:rPr lang="en-US" altLang="en-US"/>
              <a:t>Output layer</a:t>
            </a:r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3290570"/>
            <a:ext cx="10071100" cy="2959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Layers Information</a:t>
            </a:r>
            <a:endParaRPr lang="en-US"/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Input Layer</a:t>
            </a:r>
            <a:endParaRPr lang="en-US" altLang="en-US"/>
          </a:p>
          <a:p>
            <a:pPr lvl="1"/>
            <a:r>
              <a:rPr lang="en-US" altLang="en-US"/>
              <a:t>Receives input features.</a:t>
            </a:r>
            <a:endParaRPr lang="en-US" altLang="en-US"/>
          </a:p>
          <a:p>
            <a:pPr lvl="1"/>
            <a:r>
              <a:rPr lang="en-US" altLang="en-US"/>
              <a:t>For example, if an image/data sample is represented using 100 features, the input layer can have 100 input units.</a:t>
            </a:r>
            <a:endParaRPr lang="en-US" altLang="en-US"/>
          </a:p>
          <a:p>
            <a:r>
              <a:rPr lang="en-US" altLang="en-US"/>
              <a:t>Hidden Layer</a:t>
            </a:r>
            <a:endParaRPr lang="en-US" altLang="en-US"/>
          </a:p>
          <a:p>
            <a:pPr lvl="1"/>
            <a:r>
              <a:rPr lang="en-US" altLang="en-US"/>
              <a:t>Hidden layers perform transformations on the input.</a:t>
            </a:r>
            <a:endParaRPr lang="en-US" altLang="en-US"/>
          </a:p>
          <a:p>
            <a:pPr lvl="1"/>
            <a:r>
              <a:rPr lang="en-US" altLang="en-US"/>
              <a:t>A network can contain:</a:t>
            </a:r>
            <a:endParaRPr lang="en-US" altLang="en-US"/>
          </a:p>
          <a:p>
            <a:pPr lvl="1"/>
            <a:r>
              <a:rPr lang="en-US" altLang="en-US"/>
              <a:t>One hidden layer</a:t>
            </a:r>
            <a:endParaRPr lang="en-US" altLang="en-US"/>
          </a:p>
          <a:p>
            <a:pPr lvl="1"/>
            <a:r>
              <a:rPr lang="en-US" altLang="en-US"/>
              <a:t>Several hidden layers</a:t>
            </a:r>
            <a:endParaRPr lang="en-US" altLang="en-US"/>
          </a:p>
          <a:p>
            <a:pPr lvl="1"/>
            <a:r>
              <a:rPr lang="en-US" altLang="en-US"/>
              <a:t>Hundreds of layers in modern architectures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Layers Information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Output Layer</a:t>
            </a:r>
            <a:endParaRPr lang="en-US" altLang="en-US"/>
          </a:p>
          <a:p>
            <a:pPr lvl="1"/>
            <a:r>
              <a:rPr lang="en-US" altLang="en-US"/>
              <a:t>Produces the final prediction.</a:t>
            </a:r>
            <a:endParaRPr lang="en-US" altLang="en-US"/>
          </a:p>
          <a:p>
            <a:pPr lvl="1"/>
            <a:r>
              <a:rPr lang="en-US" altLang="en-US"/>
              <a:t>For example:</a:t>
            </a:r>
            <a:endParaRPr lang="en-US" altLang="en-US"/>
          </a:p>
          <a:p>
            <a:pPr lvl="1"/>
            <a:r>
              <a:rPr lang="en-US" altLang="en-US"/>
              <a:t>Binary classification</a:t>
            </a:r>
            <a:endParaRPr lang="en-US" altLang="en-US"/>
          </a:p>
          <a:p>
            <a:pPr lvl="1"/>
            <a:r>
              <a:rPr lang="en-US" altLang="en-US"/>
              <a:t>One output neuron can represent the probability of one class.</a:t>
            </a:r>
            <a:endParaRPr lang="en-US" altLang="en-US"/>
          </a:p>
          <a:p>
            <a:pPr lvl="1"/>
            <a:r>
              <a:rPr lang="en-US" altLang="en-US"/>
              <a:t>Multiclass classification</a:t>
            </a:r>
            <a:endParaRPr lang="en-US" altLang="en-US"/>
          </a:p>
          <a:p>
            <a:pPr lvl="1"/>
            <a:r>
              <a:rPr lang="en-US" altLang="en-US"/>
              <a:t>Multiple output neurons can represent different classes.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5525770"/>
          </a:xfrm>
        </p:spPr>
        <p:txBody>
          <a:bodyPr/>
          <a:p>
            <a:r>
              <a:rPr lang="en-US"/>
              <a:t>Multiple </a:t>
            </a:r>
            <a:br>
              <a:rPr lang="en-US"/>
            </a:br>
            <a:r>
              <a:rPr lang="en-US"/>
              <a:t>Layers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70605" y="0"/>
            <a:ext cx="8621395" cy="68383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Forward Propagation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1990" y="1384300"/>
            <a:ext cx="8891905" cy="5169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Learning of NN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9935" y="1396365"/>
            <a:ext cx="8418830" cy="50647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Application of DL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Computer Vision</a:t>
            </a:r>
            <a:endParaRPr lang="en-US"/>
          </a:p>
          <a:p>
            <a:r>
              <a:rPr lang="en-US"/>
              <a:t>NLP</a:t>
            </a:r>
            <a:endParaRPr lang="en-US"/>
          </a:p>
          <a:p>
            <a:r>
              <a:rPr lang="en-US"/>
              <a:t>Speech</a:t>
            </a:r>
            <a:endParaRPr lang="en-US"/>
          </a:p>
          <a:p>
            <a:r>
              <a:rPr lang="en-US"/>
              <a:t>Healthcare</a:t>
            </a:r>
            <a:endParaRPr lang="en-US"/>
          </a:p>
          <a:p>
            <a:r>
              <a:rPr lang="en-US"/>
              <a:t>Autonomuous System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Vector &amp; Calculus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1.3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Why Mathematics is Required in Deep Learning?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3740" y="1313815"/>
            <a:ext cx="8534400" cy="51339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Scalar &amp; Vector 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980305" y="391160"/>
            <a:ext cx="6362700" cy="2654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045460"/>
            <a:ext cx="6807200" cy="35941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Vector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01055" y="0"/>
            <a:ext cx="6290945" cy="40297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2820"/>
            <a:ext cx="5873750" cy="46151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Scaler Addition &amp; </a:t>
            </a:r>
            <a:br>
              <a:rPr lang="en-US"/>
            </a:br>
            <a:r>
              <a:rPr lang="en-US"/>
              <a:t>Dot Product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40905" y="0"/>
            <a:ext cx="4951095" cy="29394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75740"/>
            <a:ext cx="5999480" cy="53822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Biological Neuron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1.4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Biological Neuron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 biological neuron is the basic functional unit of the human nervous system. It receives signals, processes them, and transmits signals to other neurons.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2546985"/>
            <a:ext cx="7162800" cy="3340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Stucture of Biological Neuron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48230" y="1623060"/>
            <a:ext cx="7304405" cy="39858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Main Components</a:t>
            </a:r>
            <a:endParaRPr lang="en-US" altLang="en-US"/>
          </a:p>
          <a:p>
            <a:r>
              <a:rPr lang="en-US" altLang="en-US"/>
              <a:t>Component		Function</a:t>
            </a:r>
            <a:endParaRPr lang="en-US" altLang="en-US"/>
          </a:p>
          <a:p>
            <a:r>
              <a:rPr lang="en-US" altLang="en-US"/>
              <a:t>Dendrites		Receive signals from other neurons</a:t>
            </a:r>
            <a:endParaRPr lang="en-US" altLang="en-US"/>
          </a:p>
          <a:p>
            <a:r>
              <a:rPr lang="en-US" altLang="en-US"/>
              <a:t>Cell body (Soma)	Processes incoming signals</a:t>
            </a:r>
            <a:endParaRPr lang="en-US" altLang="en-US"/>
          </a:p>
          <a:p>
            <a:r>
              <a:rPr lang="en-US" altLang="en-US"/>
              <a:t>Axon			Carries electrical signals away from the cell body</a:t>
            </a:r>
            <a:endParaRPr lang="en-US" altLang="en-US"/>
          </a:p>
          <a:p>
            <a:r>
              <a:rPr lang="en-US" altLang="en-US"/>
              <a:t>Synapse		Connection through which signals are transmitted to another 				neuron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Working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Dendrites receive input signals.</a:t>
            </a:r>
            <a:endParaRPr lang="en-US" altLang="en-US"/>
          </a:p>
          <a:p>
            <a:r>
              <a:rPr lang="en-US" altLang="en-US"/>
              <a:t>Signals are transmitted to the cell body.</a:t>
            </a:r>
            <a:endParaRPr lang="en-US" altLang="en-US"/>
          </a:p>
          <a:p>
            <a:r>
              <a:rPr lang="en-US" altLang="en-US"/>
              <a:t>The neuron processes the received signals.</a:t>
            </a:r>
            <a:endParaRPr lang="en-US" altLang="en-US"/>
          </a:p>
          <a:p>
            <a:r>
              <a:rPr lang="en-US" altLang="en-US"/>
              <a:t>If the signal reaches the required threshold, the neuron generates an electrical impulse.</a:t>
            </a:r>
            <a:endParaRPr lang="en-US" altLang="en-US"/>
          </a:p>
          <a:p>
            <a:r>
              <a:rPr lang="en-US" altLang="en-US"/>
              <a:t>The impulse travels through the axon.</a:t>
            </a:r>
            <a:endParaRPr lang="en-US" altLang="en-US"/>
          </a:p>
          <a:p>
            <a:r>
              <a:rPr lang="en-US" altLang="en-US"/>
              <a:t>The signal is transmitted to another neuron through a synapse.</a:t>
            </a:r>
            <a:endParaRPr lang="en-US" altLang="en-US"/>
          </a:p>
          <a:p>
            <a:r>
              <a:rPr lang="en-US" altLang="en-US"/>
              <a:t>Relation to Artificial Neuron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25" y="4405630"/>
            <a:ext cx="5592445" cy="23088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McCulloch–Pitts Neuron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The McCulloch–Pitts (M-P) neuron is one of the earliest mathematical models of an artificial neuron, proposed by Warren McCulloch and Walter Pitts.</a:t>
            </a:r>
            <a:endParaRPr lang="en-US" altLang="en-US"/>
          </a:p>
          <a:p>
            <a:r>
              <a:rPr lang="en-US" altLang="en-US"/>
              <a:t>It uses a set of inputs, weights, a summation operation, and a threshold-based output.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4040"/>
            <a:ext cx="3451860" cy="37439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3054350"/>
            <a:ext cx="4972685" cy="38036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81300" y="0"/>
            <a:ext cx="6622415" cy="68510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Percptron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The Perceptron is a basic artificial neural-network model used primarily for binary classification.</a:t>
            </a:r>
            <a:endParaRPr lang="en-US" altLang="en-US"/>
          </a:p>
          <a:p>
            <a:r>
              <a:rPr lang="en-US" altLang="en-US"/>
              <a:t>It can be considered an extension of the threshold-based artificial neuron with learnable weights.</a:t>
            </a:r>
            <a:endParaRPr lang="en-US" altLang="en-US"/>
          </a:p>
          <a:p>
            <a:br>
              <a:rPr lang="en-US" altLang="en-US"/>
            </a:b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3192145"/>
            <a:ext cx="7726680" cy="35737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940" y="3251835"/>
            <a:ext cx="7846060" cy="35979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Perceptron Learning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5490" y="1490345"/>
            <a:ext cx="85775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Learning Process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1995" y="1490345"/>
            <a:ext cx="8577580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520" y="1831340"/>
            <a:ext cx="7142480" cy="50266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8683625" cy="5872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Quick Comparision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853440" y="1463040"/>
          <a:ext cx="10485120" cy="501396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626745">
                <a:tc>
                  <a:txBody>
                    <a:bodyPr/>
                    <a:p>
                      <a:pPr algn="ctr"/>
                      <a:r>
                        <a:rPr sz="1600" b="1" i="0" u="sng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Feature</a:t>
                      </a:r>
                      <a:endParaRPr sz="1600" b="1" i="0" u="sng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 i="0" u="sng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Biological Neuron</a:t>
                      </a:r>
                      <a:endParaRPr sz="1600" b="1" i="0" u="sng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 i="0" u="sng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M-P Neuron</a:t>
                      </a:r>
                      <a:endParaRPr sz="1600" b="1" i="0" u="sng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 i="0" u="sng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Perceptron</a:t>
                      </a:r>
                      <a:endParaRPr sz="1600" b="1" i="0" u="sng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Nature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Biological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Mathematical model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Learning model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Input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Signals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Binary inputs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Numerical inputs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Weights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Synaptic strength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Fixed/defined weights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Learnable weights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Decision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Biological process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Threshold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Activation/threshold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Output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Electrical signal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Usually 0/1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Usually 0/1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Learning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Biological learning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No learning mechanism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Learns weights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745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Main purpose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Neural communication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Model neuron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Binary classification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Machine Learning vs Deep Learning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1.5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18110" y="-635"/>
          <a:ext cx="12074525" cy="6846570"/>
        </p:xfrm>
        <a:graphic>
          <a:graphicData uri="http://schemas.openxmlformats.org/drawingml/2006/table">
            <a:tbl>
              <a:tblPr/>
              <a:tblGrid>
                <a:gridCol w="2022475"/>
                <a:gridCol w="5398135"/>
                <a:gridCol w="4653915"/>
              </a:tblGrid>
              <a:tr h="299085">
                <a:tc>
                  <a:txBody>
                    <a:bodyPr/>
                    <a:p>
                      <a:r>
                        <a:rPr sz="1800" b="0" i="0">
                          <a:solidFill>
                            <a:srgbClr val="000000"/>
                          </a:solidFill>
                        </a:rPr>
                        <a:t>Basis</a:t>
                      </a:r>
                      <a:endParaRPr sz="18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0" i="0">
                          <a:solidFill>
                            <a:srgbClr val="000000"/>
                          </a:solidFill>
                        </a:rPr>
                        <a:t>Machine Learning (ML)</a:t>
                      </a:r>
                      <a:endParaRPr sz="18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0" i="0">
                          <a:solidFill>
                            <a:srgbClr val="000000"/>
                          </a:solidFill>
                        </a:rPr>
                        <a:t>Deep Learning (DL)</a:t>
                      </a:r>
                      <a:endParaRPr sz="18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Definition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 subset of AI that enables systems to learn patterns from data and make predictions.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 subset of ML that uses multi-layer neural networks to learn complex patterns.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Feature Engineering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Usually requires manual feature selection and engineering.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Can automatically learn relevant features from raw data.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Data Requirement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Can work effectively with relatively smaller datasets.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Generally benefits from large amounts of data.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Architecture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Uses algorithms such as Decision Trees, SVM, Random Forest, KNN, etc.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Primarily uses deep neural-network architectures.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Number of Layers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Usually does not involve many neural-network layers.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Uses multiple hidden layers.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Feature Extraction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Often performed manually or using separate techniques.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Usually learned automatically during training.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Data Types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Particularly effective with structured/tabular data.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Particularly powerful for unstructured data such as images, audio and text.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Training Time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Generally requires less training time.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Usually requires more computational time and resources.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Computational Power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Can often run effectively on CPUs.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Often benefits from GPUs/TPUs for large models.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Interpretability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Many traditional ML models can be easier to interpret.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Deep neural networks are generally more difficult to interpret.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93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Performance with Large Data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Performance may plateau depending on the algorithm and features.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Often improves significantly with larger datasets and appropriate architectures.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Examples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Linear Regression, Logistic Regression, Decision Tree, SVM, Random Forest.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CNN, RNN, LSTM, Transformers, Deep Neural Networks.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935"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Applications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Credit scoring, spam detection, forecasting, tabular classification.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Image recognition, speech recognition, NLP, medical-image analysis, generative AI.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Additional Definition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1.6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Definitions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1. Keras</a:t>
            </a:r>
            <a:endParaRPr lang="en-US" altLang="en-US"/>
          </a:p>
          <a:p>
            <a:r>
              <a:rPr lang="en-US" altLang="en-US"/>
              <a:t>Keras is a high-level deep learning API used to build and train neural networks. It provides a simple and user-friendly interface for developing models such as CNNs, RNNs, and other neural networks.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2. TensorFlow</a:t>
            </a:r>
            <a:endParaRPr lang="en-US" altLang="en-US"/>
          </a:p>
          <a:p>
            <a:r>
              <a:rPr lang="en-US" altLang="en-US"/>
              <a:t>TensorFlow is an open-source machine learning and deep learning framework used to develop, train, and deploy neural-network models. It supports numerical computation and efficient execution on CPUs, GPUs, and other hardware.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Definitions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3. SciPy</a:t>
            </a:r>
            <a:endParaRPr lang="en-US" altLang="en-US"/>
          </a:p>
          <a:p>
            <a:r>
              <a:rPr lang="en-US" altLang="en-US"/>
              <a:t>SciPy is an open-source Python library used for scientific and technical computing. It provides functions for areas such as optimization, linear algebra, statistics, integration, and signal processing, which can support machine-learning and deep-learning workflows.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4. Other Deep Learning Libraries</a:t>
            </a:r>
            <a:endParaRPr lang="en-US" altLang="en-US"/>
          </a:p>
          <a:p>
            <a:r>
              <a:rPr lang="en-US" altLang="en-US"/>
              <a:t>Other commonly used libraries include PyTorch, NumPy, and scikit-learn. They provide tools for tensor/numerical computation, machine learning, data processing, and development of deep learning applications.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br>
              <a:rPr lang="en-US"/>
            </a:br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TABLE_ENDDRAG_ORIGIN_RECT" val="825*394"/>
  <p:tag name="TABLE_ENDDRAG_RECT" val="67*115*825*394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6.xml><?xml version="1.0" encoding="utf-8"?>
<p:tagLst xmlns:p="http://schemas.openxmlformats.org/presentationml/2006/main">
  <p:tag name="TABLE_ENDDRAG_ORIGIN_RECT" val="950*539"/>
  <p:tag name="TABLE_ENDDRAG_RECT" val="9*0*950*539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8454</Words>
  <Application>WPS Presentation</Application>
  <PresentationFormat>Widescreen</PresentationFormat>
  <Paragraphs>399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Arial 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suratwalavraj</dc:creator>
  <cp:lastModifiedBy>Vraj Suratwala</cp:lastModifiedBy>
  <cp:revision>30</cp:revision>
  <dcterms:created xsi:type="dcterms:W3CDTF">2026-09-01T05:08:32Z</dcterms:created>
  <dcterms:modified xsi:type="dcterms:W3CDTF">2026-09-01T05:08:32Z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F96A28DE6CFE8C6E5F4A966A2F5039E9_41</vt:lpwstr>
  </property>
</Properties>
</file>