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3"/>
    <p:sldId id="257" r:id="rId4"/>
    <p:sldId id="259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Advanced Deep Learning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Very Basic Understanding of GANs &amp; Auto Encoders</a:t>
            </a:r>
            <a:endParaRPr lang="en-US"/>
          </a:p>
          <a:p>
            <a:r>
              <a:rPr lang="en-US"/>
              <a:t>Vraj Suratwala</a:t>
            </a:r>
            <a:endParaRPr lang="en-US"/>
          </a:p>
          <a:p>
            <a:r>
              <a:rPr lang="en-US"/>
              <a:t>Department of ICT, VNSGU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en-US"/>
              <a:t>Generative Adversarial Networks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/>
              <a:t>A Generative Adversarial Network (GAN) is a deep learning framework used to generate new data samples that resemble the training data. GANs consist of two neural networks—the Generator and Discriminator—which compete with each other during training.</a:t>
            </a:r>
            <a:endParaRPr lang="en-US" altLang="en-US"/>
          </a:p>
          <a:p>
            <a:r>
              <a:rPr lang="en-US" altLang="en-US"/>
              <a:t>Basic Architecture of GAN :</a:t>
            </a:r>
            <a:endParaRPr lang="en-US" altLang="en-US"/>
          </a:p>
          <a:p>
            <a:pPr lvl="1"/>
            <a:r>
              <a:rPr lang="en-US" altLang="en-US"/>
              <a:t>A. Generator :</a:t>
            </a:r>
            <a:endParaRPr lang="en-US" altLang="en-US"/>
          </a:p>
          <a:p>
            <a:pPr lvl="2"/>
            <a:r>
              <a:rPr lang="en-US" altLang="en-US"/>
              <a:t>The Generator creates new/artificial samples from a random input called latent noise.</a:t>
            </a:r>
            <a:endParaRPr lang="en-US" altLang="en-US"/>
          </a:p>
          <a:p>
            <a:pPr lvl="2"/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9945" y="4747260"/>
            <a:ext cx="8152130" cy="15678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Basic Architecture of GAN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B. </a:t>
            </a:r>
            <a:r>
              <a:rPr lang="en-US" altLang="en-US"/>
              <a:t>Discriminator (D)</a:t>
            </a:r>
            <a:endParaRPr lang="en-US" altLang="en-US"/>
          </a:p>
          <a:p>
            <a:pPr lvl="1"/>
            <a:r>
              <a:rPr lang="en-US" altLang="en-US"/>
              <a:t>The Discriminator receives both real and generated samples and determines whether a sample is real or fake.</a:t>
            </a:r>
            <a:endParaRPr lang="en-US" altLang="en-US"/>
          </a:p>
          <a:p>
            <a:pPr lvl="1"/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5295" y="3204210"/>
            <a:ext cx="6390005" cy="11436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74700" y="365125"/>
            <a:ext cx="6888480" cy="60236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2. Generator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78535" y="1363980"/>
            <a:ext cx="7956550" cy="50025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93370"/>
            <a:ext cx="10515600" cy="6275705"/>
          </a:xfrm>
        </p:spPr>
        <p:txBody>
          <a:bodyPr>
            <a:normAutofit fontScale="90000" lnSpcReduction="10000"/>
          </a:bodyPr>
          <a:p>
            <a:r>
              <a:rPr lang="en-US" altLang="en-US" b="1"/>
              <a:t>Example</a:t>
            </a:r>
            <a:endParaRPr lang="en-US" altLang="en-US"/>
          </a:p>
          <a:p>
            <a:r>
              <a:rPr lang="en-US" altLang="en-US"/>
              <a:t>If the GAN is trained using images of human faces: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Random Noise</a:t>
            </a:r>
            <a:endParaRPr lang="en-US" altLang="en-US"/>
          </a:p>
          <a:p>
            <a:r>
              <a:rPr lang="en-US" altLang="en-US"/>
              <a:t>     ↓</a:t>
            </a:r>
            <a:endParaRPr lang="en-US" altLang="en-US"/>
          </a:p>
          <a:p>
            <a:r>
              <a:rPr lang="en-US" altLang="en-US"/>
              <a:t> Generator</a:t>
            </a:r>
            <a:endParaRPr lang="en-US" altLang="en-US"/>
          </a:p>
          <a:p>
            <a:r>
              <a:rPr lang="en-US" altLang="en-US"/>
              <a:t>     ↓</a:t>
            </a:r>
            <a:endParaRPr lang="en-US" altLang="en-US"/>
          </a:p>
          <a:p>
            <a:r>
              <a:rPr lang="en-US" altLang="en-US"/>
              <a:t>Generated Face</a:t>
            </a:r>
            <a:endParaRPr lang="en-US" altLang="en-US"/>
          </a:p>
          <a:p>
            <a:r>
              <a:rPr lang="en-US" altLang="en-US"/>
              <a:t>     ↓</a:t>
            </a:r>
            <a:endParaRPr lang="en-US" altLang="en-US"/>
          </a:p>
          <a:p>
            <a:r>
              <a:rPr lang="en-US" altLang="en-US"/>
              <a:t>Discriminator</a:t>
            </a:r>
            <a:endParaRPr lang="en-US" altLang="en-US"/>
          </a:p>
          <a:p>
            <a:r>
              <a:rPr lang="en-US" altLang="en-US"/>
              <a:t>     ↓</a:t>
            </a:r>
            <a:endParaRPr lang="en-US" altLang="en-US"/>
          </a:p>
          <a:p>
            <a:r>
              <a:rPr lang="en-US" altLang="en-US"/>
              <a:t>"Real" or "Fake"</a:t>
            </a:r>
            <a:endParaRPr lang="en-US" altLang="en-US"/>
          </a:p>
          <a:p>
            <a:endParaRPr lang="en-US" altLang="en-US"/>
          </a:p>
          <a:p>
            <a:r>
              <a:rPr lang="en-US" altLang="en-US" b="1"/>
              <a:t>Over training, the Generator attempts to produce increasingly realistic faces.</a:t>
            </a:r>
            <a:endParaRPr lang="en-US" altLang="en-US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70905"/>
          </a:xfrm>
        </p:spPr>
        <p:txBody>
          <a:bodyPr/>
          <a:p>
            <a:r>
              <a:rPr lang="en-US"/>
              <a:t>3. </a:t>
            </a:r>
            <a:r>
              <a:rPr lang="en-US" altLang="en-US"/>
              <a:t>Discriminator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979035" y="147320"/>
            <a:ext cx="4924425" cy="65036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4. Training of GAN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55040" y="1391920"/>
            <a:ext cx="7849235" cy="53994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365125"/>
            <a:ext cx="6685280" cy="59366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630" y="3536950"/>
            <a:ext cx="7761605" cy="27647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5. GAN Variants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477645"/>
            <a:ext cx="10387330" cy="42652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2. Conditional GAN (cGAN)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64260" y="1440180"/>
            <a:ext cx="6483350" cy="4940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248920"/>
            <a:ext cx="8631555" cy="45015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3090" y="2943860"/>
            <a:ext cx="7419340" cy="26581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365125"/>
            <a:ext cx="8583295" cy="39154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Pros &amp; Cons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r>
              <a:rPr lang="en-US" altLang="en-US" b="1"/>
              <a:t>Advantages of GANs</a:t>
            </a:r>
            <a:endParaRPr lang="en-US" altLang="en-US" b="1"/>
          </a:p>
          <a:p>
            <a:r>
              <a:rPr lang="en-US" altLang="en-US"/>
              <a:t>Generates realistic synthetic data.</a:t>
            </a:r>
            <a:endParaRPr lang="en-US" altLang="en-US"/>
          </a:p>
          <a:p>
            <a:r>
              <a:rPr lang="en-US" altLang="en-US"/>
              <a:t>Can learn complex data distributions.</a:t>
            </a:r>
            <a:endParaRPr lang="en-US" altLang="en-US"/>
          </a:p>
          <a:p>
            <a:r>
              <a:rPr lang="en-US" altLang="en-US"/>
              <a:t>Useful when generating new examples is required.</a:t>
            </a:r>
            <a:endParaRPr lang="en-US" altLang="en-US"/>
          </a:p>
          <a:p>
            <a:r>
              <a:rPr lang="en-US" altLang="en-US"/>
              <a:t>Can be used for image-to-image translation.</a:t>
            </a:r>
            <a:endParaRPr lang="en-US" altLang="en-US"/>
          </a:p>
          <a:p>
            <a:r>
              <a:rPr lang="en-US" altLang="en-US"/>
              <a:t>Useful for data augmentation and creative applications.</a:t>
            </a:r>
            <a:endParaRPr lang="en-US" altLang="en-US"/>
          </a:p>
          <a:p>
            <a:r>
              <a:rPr lang="en-US" altLang="en-US" b="1"/>
              <a:t>Limitations</a:t>
            </a:r>
            <a:endParaRPr lang="en-US" altLang="en-US" b="1"/>
          </a:p>
          <a:p>
            <a:r>
              <a:rPr lang="en-US" altLang="en-US"/>
              <a:t>Training can be difficult and unstable.</a:t>
            </a:r>
            <a:endParaRPr lang="en-US" altLang="en-US"/>
          </a:p>
          <a:p>
            <a:r>
              <a:rPr lang="en-US" altLang="en-US"/>
              <a:t>Mode collapse may occur, where the Generator produces limited varieties of samples.</a:t>
            </a:r>
            <a:endParaRPr lang="en-US" altLang="en-US"/>
          </a:p>
          <a:p>
            <a:r>
              <a:rPr lang="en-US" altLang="en-US"/>
              <a:t>Generator and Discriminator must be balanced during training.</a:t>
            </a:r>
            <a:endParaRPr lang="en-US" altLang="en-US"/>
          </a:p>
          <a:p>
            <a:r>
              <a:rPr lang="en-US" altLang="en-US"/>
              <a:t>Evaluation of generated samples can be challenging.</a:t>
            </a:r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Summary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85520" y="1550670"/>
            <a:ext cx="9973310" cy="435038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Auto Encoders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en-US"/>
              <a:t>Under Complete Auto Encoder, Regularized Auto Encoder, Stochastic Encoder-Decoder, Contractive Encoders</a:t>
            </a:r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Autoencoder and Its Variants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An Autoencoder (AE) is a type of neural network that learns to represent input data in a lower-dimensional or meaningful form and then reconstruct the original input.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6175" y="3181985"/>
            <a:ext cx="9413875" cy="23926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1. Basic Autoencoder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920480" y="1049020"/>
            <a:ext cx="2850515" cy="51130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575" y="1421130"/>
            <a:ext cx="5051425" cy="483171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2. Undercomplete Autoencoder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50290" y="1530985"/>
            <a:ext cx="7219315" cy="335788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8489315" y="3287395"/>
            <a:ext cx="3594735" cy="347916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sz="2200" b="1">
                <a:effectLst/>
              </a:rPr>
              <a:t>Main Purpose</a:t>
            </a:r>
            <a:endParaRPr sz="2200" b="1">
              <a:effectLst/>
            </a:endParaRPr>
          </a:p>
          <a:p>
            <a:r>
              <a:rPr sz="1600" b="1">
                <a:effectLst/>
              </a:rPr>
              <a:t>The bottleneck forces the network to learn the most important features of the input rather than simply copying the input.</a:t>
            </a:r>
            <a:endParaRPr sz="1600" b="1">
              <a:effectLst/>
            </a:endParaRPr>
          </a:p>
          <a:p>
            <a:pPr>
              <a:spcAft>
                <a:spcPct val="60000"/>
              </a:spcAft>
            </a:pPr>
            <a:r>
              <a:rPr sz="2200" b="1">
                <a:effectLst/>
              </a:rPr>
              <a:t>Applications</a:t>
            </a:r>
            <a:endParaRPr sz="2200" b="1">
              <a:effectLst/>
            </a:endParaRPr>
          </a:p>
          <a:p>
            <a:pPr>
              <a:buFont typeface="Arial" panose="020B0604020202020204"/>
              <a:buChar char="•"/>
            </a:pPr>
            <a:r>
              <a:rPr sz="1600" b="1">
                <a:effectLst/>
              </a:rPr>
              <a:t> Dimensionality reduction </a:t>
            </a:r>
            <a:endParaRPr sz="1600" b="1">
              <a:effectLst/>
            </a:endParaRPr>
          </a:p>
          <a:p>
            <a:pPr>
              <a:buFont typeface="Arial" panose="020B0604020202020204"/>
              <a:buChar char="•"/>
            </a:pPr>
            <a:r>
              <a:rPr sz="1600" b="1">
                <a:effectLst/>
              </a:rPr>
              <a:t> Feature extraction </a:t>
            </a:r>
            <a:endParaRPr sz="1600" b="1">
              <a:effectLst/>
            </a:endParaRPr>
          </a:p>
          <a:p>
            <a:pPr>
              <a:buFont typeface="Arial" panose="020B0604020202020204"/>
              <a:buChar char="•"/>
            </a:pPr>
            <a:r>
              <a:rPr sz="1600" b="1">
                <a:effectLst/>
              </a:rPr>
              <a:t> Data visualization </a:t>
            </a:r>
            <a:endParaRPr sz="1600" b="1">
              <a:effectLst/>
            </a:endParaRPr>
          </a:p>
          <a:p>
            <a:pPr>
              <a:buFont typeface="Arial" panose="020B0604020202020204"/>
              <a:buChar char="•"/>
            </a:pPr>
            <a:r>
              <a:rPr sz="1600" b="1">
                <a:effectLst/>
              </a:rPr>
              <a:t> Noise reduction </a:t>
            </a:r>
            <a:endParaRPr sz="1600" b="1">
              <a:effectLst/>
            </a:endParaRPr>
          </a:p>
          <a:p>
            <a:pPr>
              <a:buFont typeface="Arial" panose="020B0604020202020204"/>
              <a:buChar char="•"/>
            </a:pPr>
            <a:r>
              <a:rPr sz="1600" b="1">
                <a:effectLst/>
              </a:rPr>
              <a:t> Representation learning</a:t>
            </a:r>
            <a:endParaRPr sz="1600" b="1">
              <a:effectLst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3. Regularized Autoencoder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72185" y="1323975"/>
            <a:ext cx="6927850" cy="518985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4. Stochastic Encoder-Decoder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22985" y="1437640"/>
            <a:ext cx="8472170" cy="312039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8613140" y="2743200"/>
            <a:ext cx="3413760" cy="387794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sz="2200" b="1"/>
              <a:t>Basic Flow</a:t>
            </a:r>
            <a:endParaRPr sz="2200" b="1"/>
          </a:p>
          <a:p>
            <a:r>
              <a:rPr sz="1600"/>
              <a:t>Input x
   ↓
Encoder
   ↓
Probability Distribution
   ↓
Sample z
   ↓
Decoder
   ↓
Reconstructed Output</a:t>
            </a:r>
            <a:endParaRPr sz="1600"/>
          </a:p>
          <a:p>
            <a:r>
              <a:rPr sz="1600"/>
              <a:t>A well-known example is the Variational Autoencoder (VAE).</a:t>
            </a:r>
            <a:endParaRPr sz="1600"/>
          </a:p>
        </p:txBody>
      </p:sp>
      <p:sp>
        <p:nvSpPr>
          <p:cNvPr id="6" name="Text Box 5"/>
          <p:cNvSpPr txBox="1"/>
          <p:nvPr/>
        </p:nvSpPr>
        <p:spPr>
          <a:xfrm>
            <a:off x="1022985" y="4685665"/>
            <a:ext cx="5080000" cy="1662430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2200" b="1"/>
              <a:t>Advantages</a:t>
            </a:r>
            <a:endParaRPr sz="2200" b="1"/>
          </a:p>
          <a:p>
            <a:pPr>
              <a:buFont typeface="Arial" panose="020B0604020202020204"/>
              <a:buChar char="•"/>
            </a:pPr>
            <a:r>
              <a:rPr sz="1600"/>
              <a:t> Learns a structured latent space. </a:t>
            </a: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 Can generate new samples. </a:t>
            </a: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 Useful for generative modeling. </a:t>
            </a: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 Introduces controlled randomness into the representation.</a:t>
            </a:r>
            <a:endParaRPr sz="1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5. Contractive Autoencoder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60120" y="1489710"/>
            <a:ext cx="8317865" cy="31121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780" y="3247390"/>
            <a:ext cx="5570220" cy="342836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Summary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74090" y="1537970"/>
            <a:ext cx="10532745" cy="339280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Thank You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/>
              <a:t>Vraj Suratwala</a:t>
            </a:r>
            <a:endParaRPr lang="en-US"/>
          </a:p>
          <a:p>
            <a:r>
              <a:rPr lang="en-US"/>
              <a:t>Department of ICT, VNSGU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2554</Words>
  <Application>WPS Presentation</Application>
  <PresentationFormat>Widescreen</PresentationFormat>
  <Paragraphs>108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3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Vraj Suratwala</dc:creator>
  <cp:lastModifiedBy>Vraj Suratwala</cp:lastModifiedBy>
  <cp:revision>22</cp:revision>
  <dcterms:created xsi:type="dcterms:W3CDTF">2025-07-23T00:59:00Z</dcterms:created>
  <dcterms:modified xsi:type="dcterms:W3CDTF">2026-09-22T14:33:01Z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A7E7FE431BE149418AD1CFCF385F21A3_11</vt:lpwstr>
  </property>
  <property fmtid="{D5CDD505-2E9C-101B-9397-08002B2CF9AE}" pid="3" name="KSOProductBuildVer">
    <vt:lpwstr>1033-12.1.0.25862</vt:lpwstr>
  </property>
</Properties>
</file>