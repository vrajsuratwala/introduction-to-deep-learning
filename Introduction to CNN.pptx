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8" r:id="rId9"/>
    <p:sldId id="269" r:id="rId10"/>
    <p:sldId id="270" r:id="rId11"/>
    <p:sldId id="262" r:id="rId12"/>
    <p:sldId id="271" r:id="rId13"/>
    <p:sldId id="272" r:id="rId14"/>
    <p:sldId id="273" r:id="rId15"/>
    <p:sldId id="263" r:id="rId16"/>
    <p:sldId id="264" r:id="rId17"/>
    <p:sldId id="265" r:id="rId18"/>
    <p:sldId id="266" r:id="rId19"/>
    <p:sldId id="267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2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3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4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5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6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7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5.xml"/><Relationship Id="rId3" Type="http://schemas.openxmlformats.org/officeDocument/2006/relationships/image" Target="../media/image8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image" Target="../media/image9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Relationship Id="rId3" Type="http://schemas.openxmlformats.org/officeDocument/2006/relationships/image" Target="../media/image10.png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7.xml"/><Relationship Id="rId3" Type="http://schemas.openxmlformats.org/officeDocument/2006/relationships/image" Target="../media/image11.png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Relationship Id="rId3" Type="http://schemas.openxmlformats.org/officeDocument/2006/relationships/image" Target="../media/image12.png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3.xml"/><Relationship Id="rId3" Type="http://schemas.openxmlformats.org/officeDocument/2006/relationships/image" Target="../media/image13.png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6.xml"/><Relationship Id="rId3" Type="http://schemas.openxmlformats.org/officeDocument/2006/relationships/image" Target="../media/image14.png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Introduction to CNN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Convolutional Neural Network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A CNN is a Feed Forward Network (FNN) which is basically used to process visuals by making the grid like topology on the visuals.</a:t>
            </a:r>
            <a:endParaRPr lang="en-US"/>
          </a:p>
          <a:p>
            <a:r>
              <a:rPr lang="en-US"/>
              <a:t>It is also known as </a:t>
            </a:r>
            <a:r>
              <a:rPr lang="en-US" b="1">
                <a:latin typeface="Arial Bold" panose="020B0604020202090204" charset="0"/>
                <a:cs typeface="Arial Bold" panose="020B0604020202090204" charset="0"/>
              </a:rPr>
              <a:t>ConvoNET</a:t>
            </a:r>
            <a:r>
              <a:rPr lang="en-US"/>
              <a:t>.</a:t>
            </a:r>
            <a:endParaRPr lang="en-US"/>
          </a:p>
          <a:p>
            <a:r>
              <a:rPr lang="en-US"/>
              <a:t>Basically it is used to Detect and Classifiy the Object or Anything other feature from Visual Aids.</a:t>
            </a:r>
            <a:endParaRPr lang="en-US"/>
          </a:p>
          <a:p>
            <a:r>
              <a:rPr lang="en-US"/>
              <a:t>it is basically working on correlation between the features &amp; nighborhood.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0555" y="4337050"/>
            <a:ext cx="6115685" cy="20072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Basic Architecture Understanding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4690" y="2098040"/>
            <a:ext cx="10795000" cy="3543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Pixel Format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06120" y="1572260"/>
            <a:ext cx="1011301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Layers in Convolutional Network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Basically it is working with multiple hidden layers to extract the feature and meaning from an image and Establish the Co-Relation Between them.</a:t>
            </a:r>
            <a:endParaRPr lang="en-US"/>
          </a:p>
          <a:p>
            <a:r>
              <a:rPr lang="en-US"/>
              <a:t>1. Convolutional Layer</a:t>
            </a:r>
            <a:endParaRPr lang="en-US"/>
          </a:p>
          <a:p>
            <a:r>
              <a:rPr lang="en-US"/>
              <a:t>2. ReLu Layer</a:t>
            </a:r>
            <a:endParaRPr lang="en-US"/>
          </a:p>
          <a:p>
            <a:r>
              <a:rPr lang="en-US"/>
              <a:t>3. Pooling Layer</a:t>
            </a:r>
            <a:endParaRPr lang="en-US"/>
          </a:p>
          <a:p>
            <a:r>
              <a:rPr lang="en-US"/>
              <a:t>4. Fully Connected Layer</a:t>
            </a:r>
            <a:endParaRPr 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1. Convutional Layer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3905" y="1490345"/>
            <a:ext cx="7623175" cy="49422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Features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b="1">
                <a:latin typeface="Arial Bold" panose="020B0604020202090204" charset="0"/>
                <a:cs typeface="Arial Bold" panose="020B0604020202090204" charset="0"/>
              </a:rPr>
              <a:t>Parameter sharing</a:t>
            </a:r>
            <a:r>
              <a:rPr lang="en-US" altLang="en-US"/>
              <a:t>: a feature detector (such as a vertical edgedetector) that’s useful in one part of the image is probably useful in another part of the image. </a:t>
            </a:r>
            <a:endParaRPr lang="en-US" altLang="en-US"/>
          </a:p>
          <a:p>
            <a:r>
              <a:rPr lang="en-US" altLang="en-US" b="1">
                <a:latin typeface="Arial Bold" panose="020B0604020202090204" charset="0"/>
                <a:cs typeface="Arial Bold" panose="020B0604020202090204" charset="0"/>
              </a:rPr>
              <a:t>Sparsity of connections</a:t>
            </a:r>
            <a:r>
              <a:rPr lang="en-US" altLang="en-US"/>
              <a:t>: in each layer, each output value depends only on small number of inputs.</a:t>
            </a:r>
            <a:endParaRPr lang="en-US" altLang="en-US"/>
          </a:p>
          <a:p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Basic Convolutional Operation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88490" y="1628140"/>
            <a:ext cx="8407400" cy="44831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Basic Convolutional Operation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87550" y="1490345"/>
            <a:ext cx="8209280" cy="475932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26390" y="6028055"/>
            <a:ext cx="1175702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>
                <a:solidFill>
                  <a:srgbClr val="444444"/>
                </a:solidFill>
                <a:latin typeface="Cambria"/>
                <a:ea typeface="Cambria"/>
              </a:rPr>
              <a:t>The total number of multiplications to calculate the result above is (4 x 4) x (3 x 3) = 144</a:t>
            </a:r>
            <a:endParaRPr sz="1600">
              <a:solidFill>
                <a:srgbClr val="444444"/>
              </a:solidFill>
              <a:latin typeface="Cambria"/>
              <a:ea typeface="Cambri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Convolutional Operation - Again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35025" y="1490345"/>
            <a:ext cx="900938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What is Stride ?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5970" y="1490345"/>
            <a:ext cx="661162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What is Padding ?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02945" y="1473200"/>
            <a:ext cx="9203690" cy="43891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Some padding terminologies: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“valid” padding: no padding.</a:t>
            </a:r>
            <a:endParaRPr lang="en-US" altLang="en-US"/>
          </a:p>
          <a:p>
            <a:r>
              <a:rPr lang="en-US" altLang="en-US"/>
              <a:t>“same” padding: padding so that the output dimension is the same as the input.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Relu Layer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6760" y="1490345"/>
            <a:ext cx="732853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Pooling Layer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490345"/>
            <a:ext cx="732853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Fully Connected Layer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4690" y="1615440"/>
            <a:ext cx="10795000" cy="45085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/>
              <a:t>Daigram of Fully Connected Layer to Input for ANN 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24990" y="1490345"/>
            <a:ext cx="853440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Types of Pooling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72820" y="1753870"/>
            <a:ext cx="10073005" cy="29724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Thank You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1499</Words>
  <Application>WPS Presentation</Application>
  <PresentationFormat>Widescreen</PresentationFormat>
  <Paragraphs>65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Arial Bold</vt:lpstr>
      <vt:lpstr>Cambria</vt:lpstr>
      <vt:lpstr>Thonburi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CNN</dc:title>
  <dc:creator>suratwalavraj</dc:creator>
  <cp:lastModifiedBy>Vraj Suratwala</cp:lastModifiedBy>
  <cp:revision>13</cp:revision>
  <dcterms:created xsi:type="dcterms:W3CDTF">2026-09-07T15:46:43Z</dcterms:created>
  <dcterms:modified xsi:type="dcterms:W3CDTF">2026-09-07T15:46:43Z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3CD1D77D9898DFA048D69E6A9B93D864_41</vt:lpwstr>
  </property>
</Properties>
</file>