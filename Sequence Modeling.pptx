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7"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machine-learning/introduction-to-recurrent-neural-networ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Sequence Modeling</a:t>
            </a:r>
            <a:endParaRPr lang="en-US" dirty="0"/>
          </a:p>
        </p:txBody>
      </p:sp>
      <p:sp>
        <p:nvSpPr>
          <p:cNvPr id="3" name="Subtitle 2"/>
          <p:cNvSpPr>
            <a:spLocks noGrp="1"/>
          </p:cNvSpPr>
          <p:nvPr>
            <p:ph type="subTitle" idx="1"/>
          </p:nvPr>
        </p:nvSpPr>
        <p:spPr/>
        <p:txBody>
          <a:bodyPr/>
          <a:lstStyle/>
          <a:p>
            <a:r>
              <a:rPr lang="en-US"/>
              <a:t>Vraj Suratwala</a:t>
            </a:r>
            <a:endParaRPr lang="en-US"/>
          </a:p>
          <a:p>
            <a:r>
              <a:rPr lang="en-US"/>
              <a:t>Department of ICT, VNSGU</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Introduction to Sequence Modeling</a:t>
            </a:r>
            <a:endParaRPr lang="en-US"/>
          </a:p>
        </p:txBody>
      </p:sp>
      <p:sp>
        <p:nvSpPr>
          <p:cNvPr id="3" name="Content Placeholder 2"/>
          <p:cNvSpPr>
            <a:spLocks noGrp="1"/>
          </p:cNvSpPr>
          <p:nvPr>
            <p:ph idx="1"/>
          </p:nvPr>
        </p:nvSpPr>
        <p:spPr/>
        <p:txBody>
          <a:bodyPr>
            <a:normAutofit/>
          </a:bodyPr>
          <a:p>
            <a:r>
              <a:rPr lang="en-US" altLang="en-US"/>
              <a:t>Sequence modeling is a type of machine learning/deep learning approach used to process and learn from sequential or ordered data, where the order of elements is important.</a:t>
            </a:r>
            <a:endParaRPr lang="en-US" altLang="en-US"/>
          </a:p>
          <a:p>
            <a:r>
              <a:rPr lang="en-US" altLang="en-US"/>
              <a:t>Unlike ordinary data, the meaning of a current element may depend on previous or future elements in the sequence.</a:t>
            </a:r>
            <a:endParaRPr lang="en-US" altLang="en-US"/>
          </a:p>
          <a:p>
            <a:r>
              <a:rPr lang="en-US" altLang="en-US"/>
              <a:t>Examples:</a:t>
            </a:r>
            <a:endParaRPr lang="en-US" altLang="en-US"/>
          </a:p>
          <a:p>
            <a:pPr lvl="1"/>
            <a:r>
              <a:rPr lang="en-US" altLang="en-US"/>
              <a:t>Text and sentences</a:t>
            </a:r>
            <a:endParaRPr lang="en-US" altLang="en-US"/>
          </a:p>
          <a:p>
            <a:pPr lvl="1"/>
            <a:r>
              <a:rPr lang="en-US" altLang="en-US"/>
              <a:t>Speech signals</a:t>
            </a:r>
            <a:endParaRPr lang="en-US" altLang="en-US"/>
          </a:p>
          <a:p>
            <a:pPr lvl="1"/>
            <a:r>
              <a:rPr lang="en-US" altLang="en-US"/>
              <a:t>Time-series data</a:t>
            </a:r>
            <a:endParaRPr lang="en-US" altLang="en-US"/>
          </a:p>
          <a:p>
            <a:pPr lvl="1"/>
            <a:r>
              <a:rPr lang="en-US" altLang="en-US"/>
              <a:t>Stock-price sequences</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Basic Idea</a:t>
            </a:r>
            <a:endParaRPr lang="en-US" altLang="en-US"/>
          </a:p>
        </p:txBody>
      </p:sp>
      <p:sp>
        <p:nvSpPr>
          <p:cNvPr id="3" name="Content Placeholder 2"/>
          <p:cNvSpPr>
            <a:spLocks noGrp="1"/>
          </p:cNvSpPr>
          <p:nvPr>
            <p:ph idx="1"/>
          </p:nvPr>
        </p:nvSpPr>
        <p:spPr/>
        <p:txBody>
          <a:bodyPr/>
          <a:p>
            <a:r>
              <a:rPr lang="en-US" altLang="en-US"/>
              <a:t>A sequence can be represented as:</a:t>
            </a:r>
            <a:endParaRPr lang="en-US" altLang="en-US"/>
          </a:p>
          <a:p>
            <a:endParaRPr lang="en-US" altLang="en-US"/>
          </a:p>
          <a:p>
            <a:endParaRPr lang="en-US" altLang="en-US"/>
          </a:p>
          <a:p>
            <a:endParaRPr lang="en-US" altLang="en-US"/>
          </a:p>
          <a:p>
            <a:r>
              <a:rPr lang="en-US" altLang="en-US"/>
              <a:t>A sequence model processes the elements </a:t>
            </a:r>
            <a:br>
              <a:rPr lang="en-US" altLang="en-US"/>
            </a:br>
            <a:r>
              <a:rPr lang="en-US" altLang="en-US"/>
              <a:t>step-by-step while learning relationships </a:t>
            </a:r>
            <a:br>
              <a:rPr lang="en-US" altLang="en-US"/>
            </a:br>
            <a:r>
              <a:rPr lang="en-US" altLang="en-US"/>
              <a:t>between different time steps.</a:t>
            </a:r>
            <a:endParaRPr lang="en-US" altLang="en-US"/>
          </a:p>
        </p:txBody>
      </p:sp>
      <p:pic>
        <p:nvPicPr>
          <p:cNvPr id="4" name="Picture 3"/>
          <p:cNvPicPr>
            <a:picLocks noChangeAspect="1"/>
          </p:cNvPicPr>
          <p:nvPr/>
        </p:nvPicPr>
        <p:blipFill>
          <a:blip r:embed="rId1"/>
          <a:stretch>
            <a:fillRect/>
          </a:stretch>
        </p:blipFill>
        <p:spPr>
          <a:xfrm>
            <a:off x="1246505" y="2509520"/>
            <a:ext cx="6864985" cy="1106170"/>
          </a:xfrm>
          <a:prstGeom prst="rect">
            <a:avLst/>
          </a:prstGeom>
        </p:spPr>
      </p:pic>
      <p:pic>
        <p:nvPicPr>
          <p:cNvPr id="5" name="Picture 4"/>
          <p:cNvPicPr>
            <a:picLocks noChangeAspect="1"/>
          </p:cNvPicPr>
          <p:nvPr/>
        </p:nvPicPr>
        <p:blipFill>
          <a:blip r:embed="rId2"/>
          <a:stretch>
            <a:fillRect/>
          </a:stretch>
        </p:blipFill>
        <p:spPr>
          <a:xfrm>
            <a:off x="7371715" y="3747770"/>
            <a:ext cx="4709795" cy="28460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Why Sequence Modeling is Required?</a:t>
            </a:r>
            <a:endParaRPr lang="en-US" altLang="en-US"/>
          </a:p>
        </p:txBody>
      </p:sp>
      <p:sp>
        <p:nvSpPr>
          <p:cNvPr id="3" name="Content Placeholder 2"/>
          <p:cNvSpPr>
            <a:spLocks noGrp="1"/>
          </p:cNvSpPr>
          <p:nvPr>
            <p:ph idx="1"/>
          </p:nvPr>
        </p:nvSpPr>
        <p:spPr/>
        <p:txBody>
          <a:bodyPr>
            <a:normAutofit lnSpcReduction="10000"/>
          </a:bodyPr>
          <a:p>
            <a:r>
              <a:rPr lang="en-US" altLang="en-US"/>
              <a:t>Traditional neural networks generally treat inputs independently and do not naturally maintain information about previous inputs.</a:t>
            </a:r>
            <a:endParaRPr lang="en-US" altLang="en-US"/>
          </a:p>
          <a:p>
            <a:r>
              <a:rPr lang="en-US" altLang="en-US"/>
              <a:t>Sequence models are designed to capture:</a:t>
            </a:r>
            <a:endParaRPr lang="en-US" altLang="en-US"/>
          </a:p>
          <a:p>
            <a:pPr lvl="1"/>
            <a:r>
              <a:rPr lang="en-US" altLang="en-US"/>
              <a:t>Temporal relationships</a:t>
            </a:r>
            <a:endParaRPr lang="en-US" altLang="en-US"/>
          </a:p>
          <a:p>
            <a:pPr lvl="1"/>
            <a:r>
              <a:rPr lang="en-US" altLang="en-US"/>
              <a:t>Dependencies between elements</a:t>
            </a:r>
            <a:endParaRPr lang="en-US" altLang="en-US"/>
          </a:p>
          <a:p>
            <a:pPr lvl="1"/>
            <a:r>
              <a:rPr lang="en-US" altLang="en-US"/>
              <a:t>Order of data</a:t>
            </a:r>
            <a:endParaRPr lang="en-US" altLang="en-US"/>
          </a:p>
          <a:p>
            <a:pPr lvl="1"/>
            <a:r>
              <a:rPr lang="en-US" altLang="en-US"/>
              <a:t>Context from previous inputs</a:t>
            </a:r>
            <a:endParaRPr lang="en-US" altLang="en-US"/>
          </a:p>
          <a:p>
            <a:pPr lvl="1"/>
            <a:r>
              <a:rPr lang="en-US" altLang="en-US"/>
              <a:t>Patterns that change over time</a:t>
            </a:r>
            <a:endParaRPr lang="en-US" altLang="en-US"/>
          </a:p>
        </p:txBody>
      </p:sp>
      <p:sp>
        <p:nvSpPr>
          <p:cNvPr id="4" name="Text Box 3"/>
          <p:cNvSpPr txBox="1"/>
          <p:nvPr/>
        </p:nvSpPr>
        <p:spPr>
          <a:xfrm>
            <a:off x="-613410" y="4194175"/>
            <a:ext cx="4064000" cy="368300"/>
          </a:xfrm>
          <a:prstGeom prst="rect">
            <a:avLst/>
          </a:prstGeom>
          <a:noFill/>
        </p:spPr>
        <p:txBody>
          <a:bodyPr wrap="square" rtlCol="0">
            <a:spAutoFit/>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Types of Sequence Modeling</a:t>
            </a:r>
            <a:endParaRPr lang="en-US" altLang="en-US"/>
          </a:p>
        </p:txBody>
      </p:sp>
      <p:sp>
        <p:nvSpPr>
          <p:cNvPr id="3" name="Content Placeholder 2"/>
          <p:cNvSpPr>
            <a:spLocks noGrp="1"/>
          </p:cNvSpPr>
          <p:nvPr>
            <p:ph idx="1"/>
          </p:nvPr>
        </p:nvSpPr>
        <p:spPr/>
        <p:txBody>
          <a:bodyPr/>
          <a:p>
            <a:r>
              <a:rPr lang="en-US" altLang="en-US"/>
              <a:t>Common deep learning approaches for sequence modeling include:</a:t>
            </a:r>
            <a:endParaRPr lang="en-US" altLang="en-US"/>
          </a:p>
          <a:p>
            <a:r>
              <a:rPr lang="en-US" altLang="en-US"/>
              <a:t>Model		Main Characteristic</a:t>
            </a:r>
            <a:endParaRPr lang="en-US" altLang="en-US"/>
          </a:p>
          <a:p>
            <a:r>
              <a:rPr lang="en-US" altLang="en-US"/>
              <a:t>RNN			Maintains information from previous time steps</a:t>
            </a:r>
            <a:endParaRPr lang="en-US" altLang="en-US"/>
          </a:p>
          <a:p>
            <a:r>
              <a:rPr lang="en-US" altLang="en-US"/>
              <a:t>LSTM		Handles long-term dependencies using memory 				mechanisms</a:t>
            </a:r>
            <a:endParaRPr lang="en-US" altLang="en-US"/>
          </a:p>
          <a:p>
            <a:r>
              <a:rPr lang="en-US" altLang="en-US"/>
              <a:t>GRU			Simplified alternative to LSTM</a:t>
            </a:r>
            <a:endParaRPr lang="en-US" altLang="en-US"/>
          </a:p>
          <a:p>
            <a:r>
              <a:rPr lang="en-US" altLang="en-US"/>
              <a:t>Transformer	Uses attention mechanisms to model relationships 			between sequence elements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5. Applications</a:t>
            </a:r>
            <a:endParaRPr lang="en-US"/>
          </a:p>
        </p:txBody>
      </p:sp>
      <p:sp>
        <p:nvSpPr>
          <p:cNvPr id="3" name="Content Placeholder 2"/>
          <p:cNvSpPr>
            <a:spLocks noGrp="1"/>
          </p:cNvSpPr>
          <p:nvPr>
            <p:ph idx="1"/>
          </p:nvPr>
        </p:nvSpPr>
        <p:spPr/>
        <p:txBody>
          <a:bodyPr>
            <a:normAutofit fontScale="90000"/>
          </a:bodyPr>
          <a:p>
            <a:r>
              <a:rPr lang="en-US" altLang="en-US"/>
              <a:t>Sequence modeling is widely used in:</a:t>
            </a:r>
            <a:endParaRPr lang="en-US" altLang="en-US"/>
          </a:p>
          <a:p>
            <a:endParaRPr lang="en-US" altLang="en-US"/>
          </a:p>
          <a:p>
            <a:r>
              <a:rPr lang="en-US" altLang="en-US"/>
              <a:t>Natural Language Processing (NLP) – language modeling, translation and text generation.</a:t>
            </a:r>
            <a:endParaRPr lang="en-US" altLang="en-US"/>
          </a:p>
          <a:p>
            <a:r>
              <a:rPr lang="en-US" altLang="en-US"/>
              <a:t>Speech Recognition – converting speech into text.</a:t>
            </a:r>
            <a:endParaRPr lang="en-US" altLang="en-US"/>
          </a:p>
          <a:p>
            <a:r>
              <a:rPr lang="en-US" altLang="en-US"/>
              <a:t>Time-Series Prediction – forecasting values over time.</a:t>
            </a:r>
            <a:endParaRPr lang="en-US" altLang="en-US"/>
          </a:p>
          <a:p>
            <a:r>
              <a:rPr lang="en-US" altLang="en-US"/>
              <a:t>Machine Translation – translating one language into another.</a:t>
            </a:r>
            <a:endParaRPr lang="en-US" altLang="en-US"/>
          </a:p>
          <a:p>
            <a:r>
              <a:rPr lang="en-US" altLang="en-US"/>
              <a:t>Video Analysis – understanding relationships between video frames.</a:t>
            </a:r>
            <a:endParaRPr lang="en-US" altLang="en-US"/>
          </a:p>
          <a:p>
            <a:r>
              <a:rPr lang="en-US" altLang="en-US"/>
              <a:t>Healthcare – analyzing patient measurements and medical time-series data.</a:t>
            </a: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RNN </a:t>
            </a:r>
            <a:endParaRPr lang="en-US"/>
          </a:p>
        </p:txBody>
      </p:sp>
      <p:sp>
        <p:nvSpPr>
          <p:cNvPr id="5" name="Subtitle 4"/>
          <p:cNvSpPr>
            <a:spLocks noGrp="1"/>
          </p:cNvSpPr>
          <p:nvPr>
            <p:ph type="subTitle" idx="1"/>
          </p:nvPr>
        </p:nvSpPr>
        <p:spPr/>
        <p:txBody>
          <a:bodyPr/>
          <a:p>
            <a:r>
              <a:rPr lang="en-US">
                <a:sym typeface="+mn-ea"/>
              </a:rPr>
              <a:t>Recurrent Nueral Network</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RNN ?</a:t>
            </a:r>
            <a:endParaRPr lang="en-US"/>
          </a:p>
        </p:txBody>
      </p:sp>
      <p:sp>
        <p:nvSpPr>
          <p:cNvPr id="3" name="Content Placeholder 2"/>
          <p:cNvSpPr>
            <a:spLocks noGrp="1"/>
          </p:cNvSpPr>
          <p:nvPr>
            <p:ph idx="1"/>
          </p:nvPr>
        </p:nvSpPr>
        <p:spPr/>
        <p:txBody>
          <a:bodyPr/>
          <a:p>
            <a:r>
              <a:rPr lang="en-US" altLang="en-US"/>
              <a:t>A Recurrent Neural Network (RNN) is a type of neural network designed for sequence data, where the current output depends not only on the current input but also on information from previous time steps.</a:t>
            </a:r>
            <a:endParaRPr lang="en-US" altLang="en-US"/>
          </a:p>
          <a:p>
            <a:endParaRPr lang="en-US" altLang="en-US"/>
          </a:p>
          <a:p>
            <a:r>
              <a:rPr lang="en-US" altLang="en-US"/>
              <a:t>The key feature of an RNN is its recurrent connection, which allows it to maintain a form of memory of previous inputs.</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552450"/>
            <a:ext cx="3288665" cy="5549265"/>
          </a:xfrm>
        </p:spPr>
        <p:txBody>
          <a:bodyPr/>
          <a:p>
            <a:r>
              <a:rPr lang="en-US"/>
              <a:t>Basic Architecture</a:t>
            </a:r>
            <a:endParaRPr lang="en-US"/>
          </a:p>
        </p:txBody>
      </p:sp>
      <p:pic>
        <p:nvPicPr>
          <p:cNvPr id="4" name="Content Placeholder 3"/>
          <p:cNvPicPr>
            <a:picLocks noChangeAspect="1"/>
          </p:cNvPicPr>
          <p:nvPr>
            <p:ph idx="1"/>
          </p:nvPr>
        </p:nvPicPr>
        <p:blipFill>
          <a:blip r:embed="rId1"/>
          <a:stretch>
            <a:fillRect/>
          </a:stretch>
        </p:blipFill>
        <p:spPr>
          <a:xfrm>
            <a:off x="4126865" y="365125"/>
            <a:ext cx="7226935" cy="59239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of RNN</a:t>
            </a:r>
            <a:endParaRPr lang="en-US"/>
          </a:p>
        </p:txBody>
      </p:sp>
      <p:pic>
        <p:nvPicPr>
          <p:cNvPr id="4" name="Content Placeholder 3"/>
          <p:cNvPicPr>
            <a:picLocks noChangeAspect="1"/>
          </p:cNvPicPr>
          <p:nvPr>
            <p:ph idx="1"/>
          </p:nvPr>
        </p:nvPicPr>
        <p:blipFill>
          <a:blip r:embed="rId1"/>
          <a:stretch>
            <a:fillRect/>
          </a:stretch>
        </p:blipFill>
        <p:spPr>
          <a:xfrm>
            <a:off x="1057275" y="1459865"/>
            <a:ext cx="6885305" cy="46964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Example</a:t>
            </a:r>
            <a:endParaRPr lang="en-US" altLang="en-US"/>
          </a:p>
        </p:txBody>
      </p:sp>
      <p:sp>
        <p:nvSpPr>
          <p:cNvPr id="3" name="Content Placeholder 2"/>
          <p:cNvSpPr>
            <a:spLocks noGrp="1"/>
          </p:cNvSpPr>
          <p:nvPr>
            <p:ph idx="1"/>
          </p:nvPr>
        </p:nvSpPr>
        <p:spPr/>
        <p:txBody>
          <a:bodyPr>
            <a:normAutofit/>
          </a:bodyPr>
          <a:p>
            <a:r>
              <a:rPr lang="en-US" altLang="en-US"/>
              <a:t>Consider the sentence:</a:t>
            </a:r>
            <a:endParaRPr lang="en-US" altLang="en-US"/>
          </a:p>
          <a:p>
            <a:r>
              <a:rPr lang="en-US" altLang="en-US"/>
              <a:t>“Deep learning is very powerful.”</a:t>
            </a:r>
            <a:endParaRPr lang="en-US" altLang="en-US"/>
          </a:p>
          <a:p>
            <a:r>
              <a:rPr lang="en-US" altLang="en-US"/>
              <a:t>The RNN processes the words sequentially:</a:t>
            </a:r>
            <a:endParaRPr lang="en-US" altLang="en-US"/>
          </a:p>
          <a:p>
            <a:endParaRPr lang="en-US" altLang="en-US"/>
          </a:p>
          <a:p>
            <a:endParaRPr lang="en-US" altLang="en-US"/>
          </a:p>
          <a:p>
            <a:r>
              <a:rPr lang="en-US" altLang="en-US"/>
              <a:t>Information from earlier words is carried through the hidden states, helping the network understand the context of later words.</a:t>
            </a:r>
            <a:endParaRPr lang="en-US" altLang="en-US"/>
          </a:p>
        </p:txBody>
      </p:sp>
      <p:pic>
        <p:nvPicPr>
          <p:cNvPr id="4" name="Picture 3"/>
          <p:cNvPicPr>
            <a:picLocks noChangeAspect="1"/>
          </p:cNvPicPr>
          <p:nvPr/>
        </p:nvPicPr>
        <p:blipFill>
          <a:blip r:embed="rId1"/>
          <a:stretch>
            <a:fillRect/>
          </a:stretch>
        </p:blipFill>
        <p:spPr>
          <a:xfrm>
            <a:off x="2981325" y="4406900"/>
            <a:ext cx="6628765" cy="3498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Applications of RNN</a:t>
            </a:r>
            <a:endParaRPr lang="en-US" altLang="en-US"/>
          </a:p>
        </p:txBody>
      </p:sp>
      <p:sp>
        <p:nvSpPr>
          <p:cNvPr id="3" name="Content Placeholder 2"/>
          <p:cNvSpPr>
            <a:spLocks noGrp="1"/>
          </p:cNvSpPr>
          <p:nvPr>
            <p:ph idx="1"/>
          </p:nvPr>
        </p:nvSpPr>
        <p:spPr/>
        <p:txBody>
          <a:bodyPr>
            <a:normAutofit/>
          </a:bodyPr>
          <a:p>
            <a:r>
              <a:rPr lang="en-US" altLang="en-US"/>
              <a:t>RNNs are used for:</a:t>
            </a:r>
            <a:endParaRPr lang="en-US" altLang="en-US"/>
          </a:p>
          <a:p>
            <a:pPr lvl="1"/>
            <a:r>
              <a:rPr lang="en-US" altLang="en-US"/>
              <a:t>Natural Language Processing (NLP)</a:t>
            </a:r>
            <a:endParaRPr lang="en-US" altLang="en-US"/>
          </a:p>
          <a:p>
            <a:pPr lvl="1"/>
            <a:r>
              <a:rPr lang="en-US" altLang="en-US"/>
              <a:t>Language modeling</a:t>
            </a:r>
            <a:endParaRPr lang="en-US" altLang="en-US"/>
          </a:p>
          <a:p>
            <a:pPr lvl="1"/>
            <a:r>
              <a:rPr lang="en-US" altLang="en-US"/>
              <a:t>Speech recognition</a:t>
            </a:r>
            <a:endParaRPr lang="en-US" altLang="en-US"/>
          </a:p>
          <a:p>
            <a:pPr lvl="1"/>
            <a:r>
              <a:rPr lang="en-US" altLang="en-US"/>
              <a:t>Machine translation</a:t>
            </a:r>
            <a:endParaRPr lang="en-US" altLang="en-US"/>
          </a:p>
          <a:p>
            <a:pPr lvl="1"/>
            <a:r>
              <a:rPr lang="en-US" altLang="en-US"/>
              <a:t>Time-series prediction</a:t>
            </a:r>
            <a:endParaRPr lang="en-US" altLang="en-US"/>
          </a:p>
          <a:p>
            <a:pPr lvl="1"/>
            <a:r>
              <a:rPr lang="en-US" altLang="en-US"/>
              <a:t>Sentiment analysis</a:t>
            </a:r>
            <a:endParaRPr lang="en-US" altLang="en-US"/>
          </a:p>
          <a:p>
            <a:pPr lvl="1"/>
            <a:r>
              <a:rPr lang="en-US" altLang="en-US"/>
              <a:t>Sequence classification</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Pros &amp; Cons</a:t>
            </a:r>
            <a:endParaRPr lang="en-US"/>
          </a:p>
        </p:txBody>
      </p:sp>
      <p:sp>
        <p:nvSpPr>
          <p:cNvPr id="3" name="Content Placeholder 2"/>
          <p:cNvSpPr>
            <a:spLocks noGrp="1"/>
          </p:cNvSpPr>
          <p:nvPr>
            <p:ph idx="1"/>
          </p:nvPr>
        </p:nvSpPr>
        <p:spPr/>
        <p:txBody>
          <a:bodyPr>
            <a:normAutofit/>
          </a:bodyPr>
          <a:p>
            <a:r>
              <a:rPr lang="en-US" altLang="en-US"/>
              <a:t>Advantages</a:t>
            </a:r>
            <a:endParaRPr lang="en-US" altLang="en-US"/>
          </a:p>
          <a:p>
            <a:pPr lvl="1"/>
            <a:r>
              <a:rPr lang="en-US" altLang="en-US"/>
              <a:t>Suitable for sequential data.</a:t>
            </a:r>
            <a:endParaRPr lang="en-US" altLang="en-US"/>
          </a:p>
          <a:p>
            <a:pPr lvl="1"/>
            <a:r>
              <a:rPr lang="en-US" altLang="en-US"/>
              <a:t>Maintains information from previous time steps.</a:t>
            </a:r>
            <a:endParaRPr lang="en-US" altLang="en-US"/>
          </a:p>
          <a:p>
            <a:pPr lvl="1"/>
            <a:r>
              <a:rPr lang="en-US" altLang="en-US"/>
              <a:t>Can handle sequences of different lengths.</a:t>
            </a:r>
            <a:endParaRPr lang="en-US" altLang="en-US"/>
          </a:p>
          <a:p>
            <a:pPr lvl="1"/>
            <a:r>
              <a:rPr lang="en-US" altLang="en-US"/>
              <a:t>Useful for time-dependent problems.</a:t>
            </a:r>
            <a:endParaRPr lang="en-US" altLang="en-US"/>
          </a:p>
          <a:p>
            <a:r>
              <a:rPr lang="en-US" altLang="en-US"/>
              <a:t>Limitation</a:t>
            </a:r>
            <a:endParaRPr lang="en-US" altLang="en-US"/>
          </a:p>
          <a:p>
            <a:pPr lvl="1"/>
            <a:r>
              <a:rPr lang="en-US" altLang="en-US"/>
              <a:t>A basic RNN can suffer from the vanishing gradient problem, making it difficult to learn long-term dependencies. This led to improved architectures such as LSTM and GRU.</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Architecture of RNN</a:t>
            </a:r>
            <a:endParaRPr lang="en-US"/>
          </a:p>
        </p:txBody>
      </p:sp>
      <p:sp>
        <p:nvSpPr>
          <p:cNvPr id="3" name="Content Placeholder 2"/>
          <p:cNvSpPr>
            <a:spLocks noGrp="1"/>
          </p:cNvSpPr>
          <p:nvPr>
            <p:ph idx="1"/>
          </p:nvPr>
        </p:nvSpPr>
        <p:spPr/>
        <p:txBody>
          <a:bodyPr/>
          <a:p>
            <a:pPr algn="l"/>
            <a:r>
              <a:rPr lang="en-US" altLang="en-US">
                <a:hlinkClick r:id="rId1" tooltip="" action="ppaction://hlinkfile"/>
              </a:rPr>
              <a:t>https://www.geeksforgeeks.org/machine-learning/introduction-to-recurrent-neural-network/</a:t>
            </a:r>
            <a:r>
              <a:rPr lang="en-US" altLang="en-US"/>
              <a:t> - Refer this whole link.</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Vanishing and Exploding Gradients</a:t>
            </a:r>
            <a:endParaRPr lang="en-US" altLang="en-US"/>
          </a:p>
        </p:txBody>
      </p:sp>
      <p:sp>
        <p:nvSpPr>
          <p:cNvPr id="3" name="Content Placeholder 2"/>
          <p:cNvSpPr>
            <a:spLocks noGrp="1"/>
          </p:cNvSpPr>
          <p:nvPr>
            <p:ph idx="1"/>
          </p:nvPr>
        </p:nvSpPr>
        <p:spPr/>
        <p:txBody>
          <a:bodyPr/>
          <a:p>
            <a:r>
              <a:rPr lang="en-US" altLang="en-US"/>
              <a:t>Vanishing gradient and exploding gradient are important problems that can occur while training deep neural networks, especially RNNs. They are related to how gradients behave during backpropagation through many layers or time steps.</a:t>
            </a:r>
            <a:endParaRPr lang="en-US" altLang="en-US"/>
          </a:p>
          <a:p>
            <a:r>
              <a:rPr lang="en-US" altLang="en-US"/>
              <a:t>1. Vanishing Gradient</a:t>
            </a:r>
            <a:endParaRPr lang="en-US" altLang="en-US"/>
          </a:p>
          <a:p>
            <a:pPr lvl="1"/>
            <a:r>
              <a:rPr lang="en-US" altLang="en-US"/>
              <a:t>The vanishing gradient problem occurs when gradients become extremely small during backpropagation.</a:t>
            </a:r>
            <a:endParaRPr lang="en-US" altLang="en-US"/>
          </a:p>
          <a:p>
            <a:pPr lvl="1"/>
            <a:endParaRPr lang="en-US" altLang="en-US"/>
          </a:p>
          <a:p>
            <a:pPr lvl="1"/>
            <a:r>
              <a:rPr lang="en-US" altLang="en-US"/>
              <a:t>As the gradient becomes smaller and smaller, the weights receive very small updates, making the network slow or unable to learn long-term dependencies.</a:t>
            </a:r>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836930" y="364490"/>
            <a:ext cx="6821805" cy="3280410"/>
          </a:xfrm>
          <a:prstGeom prst="rect">
            <a:avLst/>
          </a:prstGeom>
        </p:spPr>
      </p:pic>
      <p:sp>
        <p:nvSpPr>
          <p:cNvPr id="5" name="Text Box 4"/>
          <p:cNvSpPr txBox="1"/>
          <p:nvPr/>
        </p:nvSpPr>
        <p:spPr>
          <a:xfrm>
            <a:off x="836930" y="3895408"/>
            <a:ext cx="5080000" cy="2400935"/>
          </a:xfrm>
          <a:prstGeom prst="rect">
            <a:avLst/>
          </a:prstGeom>
        </p:spPr>
        <p:txBody>
          <a:bodyPr>
            <a:spAutoFit/>
          </a:bodyPr>
          <a:p>
            <a:pPr>
              <a:spcAft>
                <a:spcPct val="60000"/>
              </a:spcAft>
            </a:pPr>
            <a:r>
              <a:rPr sz="2200" b="1"/>
              <a:t>Effects</a:t>
            </a:r>
            <a:endParaRPr sz="2200" b="1"/>
          </a:p>
          <a:p>
            <a:pPr>
              <a:buFont typeface="Arial" panose="020B0604020202020204"/>
              <a:buChar char="•"/>
            </a:pPr>
            <a:r>
              <a:rPr sz="1600"/>
              <a:t> Very small weight updates. </a:t>
            </a:r>
            <a:endParaRPr sz="1600"/>
          </a:p>
          <a:p>
            <a:pPr>
              <a:buFont typeface="Arial" panose="020B0604020202020204"/>
              <a:buChar char="•"/>
            </a:pPr>
            <a:r>
              <a:rPr sz="1600"/>
              <a:t> Slow learning. </a:t>
            </a:r>
            <a:endParaRPr sz="1600"/>
          </a:p>
          <a:p>
            <a:pPr>
              <a:buFont typeface="Arial" panose="020B0604020202020204"/>
              <a:buChar char="•"/>
            </a:pPr>
            <a:r>
              <a:rPr sz="1600"/>
              <a:t> Difficulty learning long-term dependencies. </a:t>
            </a:r>
            <a:endParaRPr sz="1600"/>
          </a:p>
          <a:p>
            <a:pPr>
              <a:buFont typeface="Arial" panose="020B0604020202020204"/>
              <a:buChar char="•"/>
            </a:pPr>
            <a:r>
              <a:rPr sz="1600"/>
              <a:t> Earlier time steps in an RNN receive very little learning signal. </a:t>
            </a:r>
            <a:endParaRPr sz="1600"/>
          </a:p>
          <a:p>
            <a:pPr>
              <a:buFont typeface="Arial" panose="020B0604020202020204"/>
              <a:buChar char="•"/>
            </a:pPr>
            <a:r>
              <a:rPr sz="1600"/>
              <a:t> Can be particularly problematic with sigmoid and tanh activations in deep/recurrent networks.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Exploding Gradient	</a:t>
            </a:r>
            <a:endParaRPr lang="en-US" altLang="en-US"/>
          </a:p>
        </p:txBody>
      </p:sp>
      <p:pic>
        <p:nvPicPr>
          <p:cNvPr id="4" name="Content Placeholder 3"/>
          <p:cNvPicPr>
            <a:picLocks noChangeAspect="1"/>
          </p:cNvPicPr>
          <p:nvPr>
            <p:ph idx="1"/>
          </p:nvPr>
        </p:nvPicPr>
        <p:blipFill>
          <a:blip r:embed="rId1"/>
          <a:stretch>
            <a:fillRect/>
          </a:stretch>
        </p:blipFill>
        <p:spPr>
          <a:xfrm>
            <a:off x="925195" y="1325245"/>
            <a:ext cx="8756650" cy="50711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360680"/>
            <a:ext cx="10515600" cy="5816600"/>
          </a:xfrm>
        </p:spPr>
        <p:txBody>
          <a:bodyPr/>
          <a:p>
            <a:r>
              <a:rPr lang="en-US" altLang="en-US"/>
              <a:t>Vanishing vs Exploding Gradient</a:t>
            </a:r>
            <a:endParaRPr lang="en-US" altLang="en-US"/>
          </a:p>
          <a:p>
            <a:endParaRPr lang="en-US" altLang="en-US"/>
          </a:p>
        </p:txBody>
      </p:sp>
      <p:pic>
        <p:nvPicPr>
          <p:cNvPr id="4" name="Picture 3"/>
          <p:cNvPicPr>
            <a:picLocks noChangeAspect="1"/>
          </p:cNvPicPr>
          <p:nvPr/>
        </p:nvPicPr>
        <p:blipFill>
          <a:blip r:embed="rId1"/>
          <a:stretch>
            <a:fillRect/>
          </a:stretch>
        </p:blipFill>
        <p:spPr>
          <a:xfrm>
            <a:off x="1181735" y="1068070"/>
            <a:ext cx="9062085" cy="46348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Solutions</a:t>
            </a:r>
            <a:endParaRPr lang="en-US" altLang="en-US"/>
          </a:p>
        </p:txBody>
      </p:sp>
      <p:pic>
        <p:nvPicPr>
          <p:cNvPr id="4" name="Content Placeholder 3"/>
          <p:cNvPicPr>
            <a:picLocks noChangeAspect="1"/>
          </p:cNvPicPr>
          <p:nvPr>
            <p:ph idx="1"/>
          </p:nvPr>
        </p:nvPicPr>
        <p:blipFill>
          <a:blip r:embed="rId1"/>
          <a:stretch>
            <a:fillRect/>
          </a:stretch>
        </p:blipFill>
        <p:spPr>
          <a:xfrm>
            <a:off x="920115" y="1403985"/>
            <a:ext cx="5680710" cy="49999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Relation to RNN</a:t>
            </a:r>
            <a:endParaRPr lang="en-US" altLang="en-US"/>
          </a:p>
        </p:txBody>
      </p:sp>
      <p:pic>
        <p:nvPicPr>
          <p:cNvPr id="4" name="Content Placeholder 3"/>
          <p:cNvPicPr>
            <a:picLocks noChangeAspect="1"/>
          </p:cNvPicPr>
          <p:nvPr>
            <p:ph idx="1"/>
          </p:nvPr>
        </p:nvPicPr>
        <p:blipFill>
          <a:blip r:embed="rId1"/>
          <a:stretch>
            <a:fillRect/>
          </a:stretch>
        </p:blipFill>
        <p:spPr>
          <a:xfrm>
            <a:off x="973455" y="1356995"/>
            <a:ext cx="9452610" cy="48926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LSTM &amp; It’s Application</a:t>
            </a:r>
            <a:endParaRPr lang="en-US"/>
          </a:p>
        </p:txBody>
      </p:sp>
      <p:sp>
        <p:nvSpPr>
          <p:cNvPr id="5" name="Subtitle 4"/>
          <p:cNvSpPr>
            <a:spLocks noGrp="1"/>
          </p:cNvSpPr>
          <p:nvPr>
            <p:ph type="subTitle" idx="1"/>
          </p:nvPr>
        </p:nvSpPr>
        <p:spPr/>
        <p:txBody>
          <a:bodyPr/>
          <a:p>
            <a:r>
              <a:rPr lang="en-US" altLang="en-US"/>
              <a:t>Long Short-Term Memory (LSTM)</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Introduction</a:t>
            </a:r>
            <a:endParaRPr lang="en-US"/>
          </a:p>
        </p:txBody>
      </p:sp>
      <p:sp>
        <p:nvSpPr>
          <p:cNvPr id="3" name="Content Placeholder 2"/>
          <p:cNvSpPr>
            <a:spLocks noGrp="1"/>
          </p:cNvSpPr>
          <p:nvPr>
            <p:ph idx="1"/>
          </p:nvPr>
        </p:nvSpPr>
        <p:spPr/>
        <p:txBody>
          <a:bodyPr/>
          <a:p>
            <a:r>
              <a:rPr lang="en-US" altLang="en-US"/>
              <a:t>Long Short-Term Memory (LSTM) is a special type of Recurrent Neural Network (RNN) designed to learn long-term dependencies in sequential data.</a:t>
            </a:r>
            <a:endParaRPr lang="en-US" altLang="en-US"/>
          </a:p>
          <a:p>
            <a:endParaRPr lang="en-US" altLang="en-US"/>
          </a:p>
          <a:p>
            <a:r>
              <a:rPr lang="en-US" altLang="en-US"/>
              <a:t>A basic RNN can suffer from the vanishing gradient problem, which makes it difficult to remember information from earlier time steps. LSTM addresses this problem using a memory cell and gates that control the flow of information.</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Basic Architecture of LSTM</a:t>
            </a:r>
            <a:endParaRPr lang="en-US" altLang="en-US"/>
          </a:p>
        </p:txBody>
      </p:sp>
      <p:sp>
        <p:nvSpPr>
          <p:cNvPr id="3" name="Content Placeholder 2"/>
          <p:cNvSpPr>
            <a:spLocks noGrp="1"/>
          </p:cNvSpPr>
          <p:nvPr>
            <p:ph idx="1"/>
          </p:nvPr>
        </p:nvSpPr>
        <p:spPr/>
        <p:txBody>
          <a:bodyPr/>
          <a:p>
            <a:r>
              <a:rPr lang="en-US" altLang="en-US"/>
              <a:t>An LSTM cell mainly consists of:</a:t>
            </a:r>
            <a:endParaRPr lang="en-US" altLang="en-US"/>
          </a:p>
          <a:p>
            <a:pPr lvl="1"/>
            <a:r>
              <a:rPr lang="en-US" altLang="en-US"/>
              <a:t>Cell State (Ct) – stores long-term information.</a:t>
            </a:r>
            <a:endParaRPr lang="en-US" altLang="en-US"/>
          </a:p>
          <a:p>
            <a:pPr lvl="1"/>
            <a:r>
              <a:rPr lang="en-US" altLang="en-US"/>
              <a:t>Hidden State (Ht) – carries the current output/state.</a:t>
            </a:r>
            <a:endParaRPr lang="en-US" altLang="en-US"/>
          </a:p>
          <a:p>
            <a:pPr lvl="1"/>
            <a:r>
              <a:rPr lang="en-US" altLang="en-US"/>
              <a:t>Forget Gate – decides what information to remove.</a:t>
            </a:r>
            <a:endParaRPr lang="en-US" altLang="en-US"/>
          </a:p>
          <a:p>
            <a:pPr lvl="1"/>
            <a:r>
              <a:rPr lang="en-US" altLang="en-US"/>
              <a:t>Input Gate – decides what new information to store.</a:t>
            </a:r>
            <a:endParaRPr lang="en-US" altLang="en-US"/>
          </a:p>
          <a:p>
            <a:pPr lvl="1"/>
            <a:r>
              <a:rPr lang="en-US" altLang="en-US"/>
              <a:t>Output Gate – decides what information to output.</a:t>
            </a:r>
            <a:endParaRPr lang="en-US" altLang="en-US"/>
          </a:p>
        </p:txBody>
      </p:sp>
      <p:pic>
        <p:nvPicPr>
          <p:cNvPr id="4" name="Picture 3"/>
          <p:cNvPicPr>
            <a:picLocks noChangeAspect="1"/>
          </p:cNvPicPr>
          <p:nvPr/>
        </p:nvPicPr>
        <p:blipFill>
          <a:blip r:embed="rId1"/>
          <a:stretch>
            <a:fillRect/>
          </a:stretch>
        </p:blipFill>
        <p:spPr>
          <a:xfrm>
            <a:off x="8309610" y="2546350"/>
            <a:ext cx="3882390" cy="43116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of LSTM</a:t>
            </a:r>
            <a:endParaRPr lang="en-US"/>
          </a:p>
        </p:txBody>
      </p:sp>
      <p:pic>
        <p:nvPicPr>
          <p:cNvPr id="4" name="Content Placeholder 3"/>
          <p:cNvPicPr>
            <a:picLocks noChangeAspect="1"/>
          </p:cNvPicPr>
          <p:nvPr>
            <p:ph idx="1"/>
          </p:nvPr>
        </p:nvPicPr>
        <p:blipFill>
          <a:blip r:embed="rId1"/>
          <a:stretch>
            <a:fillRect/>
          </a:stretch>
        </p:blipFill>
        <p:spPr>
          <a:xfrm>
            <a:off x="959485" y="1542415"/>
            <a:ext cx="9123680" cy="409638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Working of LSTM</a:t>
            </a:r>
            <a:endParaRPr lang="en-US"/>
          </a:p>
        </p:txBody>
      </p:sp>
      <p:pic>
        <p:nvPicPr>
          <p:cNvPr id="4" name="Content Placeholder 3"/>
          <p:cNvPicPr>
            <a:picLocks noChangeAspect="1"/>
          </p:cNvPicPr>
          <p:nvPr>
            <p:ph idx="1"/>
          </p:nvPr>
        </p:nvPicPr>
        <p:blipFill>
          <a:blip r:embed="rId1"/>
          <a:stretch>
            <a:fillRect/>
          </a:stretch>
        </p:blipFill>
        <p:spPr>
          <a:xfrm>
            <a:off x="1014095" y="1382395"/>
            <a:ext cx="7846695" cy="50279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838200" y="365125"/>
            <a:ext cx="8124190" cy="624903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Applications of LSTM</a:t>
            </a:r>
            <a:endParaRPr lang="en-US" altLang="en-US"/>
          </a:p>
        </p:txBody>
      </p:sp>
      <p:sp>
        <p:nvSpPr>
          <p:cNvPr id="3" name="Content Placeholder 2"/>
          <p:cNvSpPr>
            <a:spLocks noGrp="1"/>
          </p:cNvSpPr>
          <p:nvPr>
            <p:ph idx="1"/>
          </p:nvPr>
        </p:nvSpPr>
        <p:spPr/>
        <p:txBody>
          <a:bodyPr/>
          <a:p>
            <a:r>
              <a:rPr lang="en-US" altLang="en-US"/>
              <a:t>1. Natural Language Processing</a:t>
            </a:r>
            <a:endParaRPr lang="en-US" altLang="en-US"/>
          </a:p>
          <a:p>
            <a:r>
              <a:rPr lang="en-US" altLang="en-US"/>
              <a:t>2. Speech Recognition</a:t>
            </a:r>
            <a:endParaRPr lang="en-US" altLang="en-US"/>
          </a:p>
          <a:p>
            <a:r>
              <a:rPr lang="en-US" altLang="en-US"/>
              <a:t>3. Machine Translation</a:t>
            </a:r>
            <a:endParaRPr lang="en-US" altLang="en-US"/>
          </a:p>
          <a:p>
            <a:r>
              <a:rPr lang="en-US" altLang="en-US"/>
              <a:t>4. Time-Series Forecasting</a:t>
            </a:r>
            <a:endParaRPr lang="en-US" altLang="en-US"/>
          </a:p>
          <a:p>
            <a:r>
              <a:rPr lang="en-US" altLang="en-US"/>
              <a:t>5. Healthcare</a:t>
            </a:r>
            <a:endParaRPr lang="en-US" altLang="en-US"/>
          </a:p>
          <a:p>
            <a:r>
              <a:rPr lang="en-US" altLang="en-US"/>
              <a:t>6. Video and Activity Analysis</a:t>
            </a:r>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Advantages of LSTM</a:t>
            </a:r>
            <a:endParaRPr lang="en-US"/>
          </a:p>
        </p:txBody>
      </p:sp>
      <p:sp>
        <p:nvSpPr>
          <p:cNvPr id="3" name="Content Placeholder 2"/>
          <p:cNvSpPr>
            <a:spLocks noGrp="1"/>
          </p:cNvSpPr>
          <p:nvPr>
            <p:ph idx="1"/>
          </p:nvPr>
        </p:nvSpPr>
        <p:spPr/>
        <p:txBody>
          <a:bodyPr/>
          <a:p>
            <a:r>
              <a:rPr lang="en-US" altLang="en-US"/>
              <a:t>Handles sequential data effectively.</a:t>
            </a:r>
            <a:endParaRPr lang="en-US" altLang="en-US"/>
          </a:p>
          <a:p>
            <a:r>
              <a:rPr lang="en-US" altLang="en-US"/>
              <a:t>Can learn long-term dependencies.</a:t>
            </a:r>
            <a:endParaRPr lang="en-US" altLang="en-US"/>
          </a:p>
          <a:p>
            <a:r>
              <a:rPr lang="en-US" altLang="en-US"/>
              <a:t>Better control of information flow through gates.</a:t>
            </a:r>
            <a:endParaRPr lang="en-US" altLang="en-US"/>
          </a:p>
          <a:p>
            <a:r>
              <a:rPr lang="en-US" altLang="en-US"/>
              <a:t>Reduces the effect of vanishing gradients compared with basic RNNs.</a:t>
            </a:r>
            <a:endParaRPr lang="en-US" altLang="en-US"/>
          </a:p>
          <a:p>
            <a:r>
              <a:rPr lang="en-US" altLang="en-US"/>
              <a:t>Useful for variable-length sequences.</a:t>
            </a:r>
            <a:endParaRPr lang="en-US" altLang="en-US"/>
          </a:p>
          <a:p>
            <a:r>
              <a:rPr lang="en-US" altLang="en-US"/>
              <a:t>Applicable to NLP, speech, healthcare, and time-series problems.</a:t>
            </a:r>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normAutofit/>
          </a:bodyPr>
          <a:p>
            <a:r>
              <a:rPr lang="en-US" altLang="en-US"/>
              <a:t>Introduction to LLM</a:t>
            </a:r>
            <a:endParaRPr lang="en-US" altLang="en-US"/>
          </a:p>
        </p:txBody>
      </p:sp>
      <p:sp>
        <p:nvSpPr>
          <p:cNvPr id="5" name="Subtitle 4"/>
          <p:cNvSpPr>
            <a:spLocks noGrp="1"/>
          </p:cNvSpPr>
          <p:nvPr>
            <p:ph type="subTitle" idx="1"/>
          </p:nvPr>
        </p:nvSpPr>
        <p:spPr/>
        <p:txBody>
          <a:bodyPr/>
          <a:p>
            <a:r>
              <a:rPr lang="en-US" altLang="en-US">
                <a:sym typeface="+mn-ea"/>
              </a:rPr>
              <a:t>Transformers, BERT and XLNet</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Large Language Models (LLMs)</a:t>
            </a:r>
            <a:endParaRPr lang="en-US" altLang="en-US"/>
          </a:p>
        </p:txBody>
      </p:sp>
      <p:sp>
        <p:nvSpPr>
          <p:cNvPr id="3" name="Content Placeholder 2"/>
          <p:cNvSpPr>
            <a:spLocks noGrp="1"/>
          </p:cNvSpPr>
          <p:nvPr>
            <p:ph idx="1"/>
          </p:nvPr>
        </p:nvSpPr>
        <p:spPr/>
        <p:txBody>
          <a:bodyPr>
            <a:normAutofit fontScale="80000"/>
          </a:bodyPr>
          <a:p>
            <a:r>
              <a:rPr lang="en-US" altLang="en-US"/>
              <a:t>A Large Language Model (LLM) is a deep learning model trained on a very large amount of text data to understand and generate human language.</a:t>
            </a:r>
            <a:endParaRPr lang="en-US" altLang="en-US"/>
          </a:p>
          <a:p>
            <a:r>
              <a:rPr lang="en-US" altLang="en-US"/>
              <a:t>LLMs learn patterns between words, sentences, and larger sections of text. They can perform tasks such as:</a:t>
            </a:r>
            <a:endParaRPr lang="en-US" altLang="en-US"/>
          </a:p>
          <a:p>
            <a:pPr lvl="1"/>
            <a:r>
              <a:rPr lang="en-US" altLang="en-US"/>
              <a:t>Text generation</a:t>
            </a:r>
            <a:endParaRPr lang="en-US" altLang="en-US"/>
          </a:p>
          <a:p>
            <a:pPr lvl="1"/>
            <a:r>
              <a:rPr lang="en-US" altLang="en-US"/>
              <a:t>Question answering</a:t>
            </a:r>
            <a:endParaRPr lang="en-US" altLang="en-US"/>
          </a:p>
          <a:p>
            <a:pPr lvl="1"/>
            <a:r>
              <a:rPr lang="en-US" altLang="en-US"/>
              <a:t>Text classification</a:t>
            </a:r>
            <a:endParaRPr lang="en-US" altLang="en-US"/>
          </a:p>
          <a:p>
            <a:pPr lvl="1"/>
            <a:r>
              <a:rPr lang="en-US" altLang="en-US"/>
              <a:t>Language translation</a:t>
            </a:r>
            <a:endParaRPr lang="en-US" altLang="en-US"/>
          </a:p>
          <a:p>
            <a:pPr lvl="1"/>
            <a:r>
              <a:rPr lang="en-US" altLang="en-US"/>
              <a:t>Summarization</a:t>
            </a:r>
            <a:endParaRPr lang="en-US" altLang="en-US"/>
          </a:p>
          <a:p>
            <a:pPr lvl="1"/>
            <a:r>
              <a:rPr lang="en-US" altLang="en-US"/>
              <a:t>Sentiment analysis</a:t>
            </a:r>
            <a:endParaRPr lang="en-US" altLang="en-US"/>
          </a:p>
          <a:p>
            <a:pPr lvl="1"/>
            <a:r>
              <a:rPr lang="en-US" altLang="en-US"/>
              <a:t>Information extraction</a:t>
            </a:r>
            <a:endParaRPr lang="en-US" altLang="en-US"/>
          </a:p>
          <a:p>
            <a:r>
              <a:rPr lang="en-US" altLang="en-US"/>
              <a:t>Modern LLMs are primarily based on the Transformer architecture.</a:t>
            </a:r>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Basic LLM Flow</a:t>
            </a:r>
            <a:endParaRPr lang="en-US"/>
          </a:p>
        </p:txBody>
      </p:sp>
      <p:sp>
        <p:nvSpPr>
          <p:cNvPr id="3" name="Content Placeholder 2"/>
          <p:cNvSpPr>
            <a:spLocks noGrp="1"/>
          </p:cNvSpPr>
          <p:nvPr>
            <p:ph idx="1"/>
          </p:nvPr>
        </p:nvSpPr>
        <p:spPr/>
        <p:txBody>
          <a:bodyPr>
            <a:normAutofit lnSpcReduction="10000"/>
          </a:bodyPr>
          <a:p>
            <a:r>
              <a:rPr lang="en-US" altLang="en-US"/>
              <a:t>Large Text Dataset</a:t>
            </a:r>
            <a:endParaRPr lang="en-US" altLang="en-US"/>
          </a:p>
          <a:p>
            <a:r>
              <a:rPr lang="en-US" altLang="en-US"/>
              <a:t>        ↓</a:t>
            </a:r>
            <a:endParaRPr lang="en-US" altLang="en-US"/>
          </a:p>
          <a:p>
            <a:r>
              <a:rPr lang="en-US" altLang="en-US"/>
              <a:t>   Tokenization</a:t>
            </a:r>
            <a:endParaRPr lang="en-US" altLang="en-US"/>
          </a:p>
          <a:p>
            <a:r>
              <a:rPr lang="en-US" altLang="en-US"/>
              <a:t>        ↓</a:t>
            </a:r>
            <a:endParaRPr lang="en-US" altLang="en-US"/>
          </a:p>
          <a:p>
            <a:r>
              <a:rPr lang="en-US" altLang="en-US"/>
              <a:t> Transformer Model</a:t>
            </a:r>
            <a:endParaRPr lang="en-US" altLang="en-US"/>
          </a:p>
          <a:p>
            <a:r>
              <a:rPr lang="en-US" altLang="en-US"/>
              <a:t>        ↓</a:t>
            </a:r>
            <a:endParaRPr lang="en-US" altLang="en-US"/>
          </a:p>
          <a:p>
            <a:r>
              <a:rPr lang="en-US" altLang="en-US"/>
              <a:t> Language Understanding</a:t>
            </a:r>
            <a:endParaRPr lang="en-US" altLang="en-US"/>
          </a:p>
          <a:p>
            <a:r>
              <a:rPr lang="en-US" altLang="en-US"/>
              <a:t>        ↓</a:t>
            </a:r>
            <a:endParaRPr lang="en-US" altLang="en-US"/>
          </a:p>
          <a:p>
            <a:r>
              <a:rPr lang="en-US" altLang="en-US"/>
              <a:t>Prediction / Text Generation</a:t>
            </a:r>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Transformers</a:t>
            </a:r>
            <a:endParaRPr lang="en-US" altLang="en-US"/>
          </a:p>
        </p:txBody>
      </p:sp>
      <p:sp>
        <p:nvSpPr>
          <p:cNvPr id="3" name="Content Placeholder 2"/>
          <p:cNvSpPr>
            <a:spLocks noGrp="1"/>
          </p:cNvSpPr>
          <p:nvPr>
            <p:ph idx="1"/>
          </p:nvPr>
        </p:nvSpPr>
        <p:spPr>
          <a:xfrm>
            <a:off x="838200" y="1825625"/>
            <a:ext cx="8101330" cy="4351655"/>
          </a:xfrm>
        </p:spPr>
        <p:txBody>
          <a:bodyPr/>
          <a:p>
            <a:r>
              <a:rPr lang="en-US" altLang="en-US"/>
              <a:t>A Transformer is a deep learning architecture introduced for processing sequential data using attention mechanisms, particularly self-attention.</a:t>
            </a:r>
            <a:endParaRPr lang="en-US" altLang="en-US"/>
          </a:p>
          <a:p>
            <a:endParaRPr lang="en-US" altLang="en-US"/>
          </a:p>
          <a:p>
            <a:r>
              <a:rPr lang="en-US" altLang="en-US"/>
              <a:t>Unlike traditional RNNs, Transformers can process many tokens in parallel and can effectively model relationships between words that are far apart in a sequence.	</a:t>
            </a:r>
            <a:endParaRPr lang="en-US" altLang="en-US"/>
          </a:p>
        </p:txBody>
      </p:sp>
      <p:pic>
        <p:nvPicPr>
          <p:cNvPr id="4" name="Picture 3"/>
          <p:cNvPicPr>
            <a:picLocks noChangeAspect="1"/>
          </p:cNvPicPr>
          <p:nvPr/>
        </p:nvPicPr>
        <p:blipFill>
          <a:blip r:embed="rId1"/>
          <a:stretch>
            <a:fillRect/>
          </a:stretch>
        </p:blipFill>
        <p:spPr>
          <a:xfrm>
            <a:off x="8939530" y="1910715"/>
            <a:ext cx="3016885" cy="35655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Self-Attention</a:t>
            </a:r>
            <a:endParaRPr lang="en-US" altLang="en-US"/>
          </a:p>
        </p:txBody>
      </p:sp>
      <p:pic>
        <p:nvPicPr>
          <p:cNvPr id="4" name="Content Placeholder 3"/>
          <p:cNvPicPr>
            <a:picLocks noChangeAspect="1"/>
          </p:cNvPicPr>
          <p:nvPr>
            <p:ph idx="1"/>
          </p:nvPr>
        </p:nvPicPr>
        <p:blipFill>
          <a:blip r:embed="rId1"/>
          <a:stretch>
            <a:fillRect/>
          </a:stretch>
        </p:blipFill>
        <p:spPr>
          <a:xfrm>
            <a:off x="953770" y="1479550"/>
            <a:ext cx="8764270" cy="50368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Advantages of Transformers</a:t>
            </a:r>
            <a:endParaRPr lang="en-US" altLang="en-US"/>
          </a:p>
        </p:txBody>
      </p:sp>
      <p:sp>
        <p:nvSpPr>
          <p:cNvPr id="3" name="Content Placeholder 2"/>
          <p:cNvSpPr>
            <a:spLocks noGrp="1"/>
          </p:cNvSpPr>
          <p:nvPr>
            <p:ph idx="1"/>
          </p:nvPr>
        </p:nvSpPr>
        <p:spPr/>
        <p:txBody>
          <a:bodyPr/>
          <a:p>
            <a:r>
              <a:rPr lang="en-US" altLang="en-US"/>
              <a:t>Parallel processing of tokens.</a:t>
            </a:r>
            <a:endParaRPr lang="en-US" altLang="en-US"/>
          </a:p>
          <a:p>
            <a:r>
              <a:rPr lang="en-US" altLang="en-US"/>
              <a:t>Captures long-range dependencies.</a:t>
            </a:r>
            <a:endParaRPr lang="en-US" altLang="en-US"/>
          </a:p>
          <a:p>
            <a:r>
              <a:rPr lang="en-US" altLang="en-US"/>
              <a:t>More efficient than sequential RNN processing for many training tasks.</a:t>
            </a:r>
            <a:endParaRPr lang="en-US" altLang="en-US"/>
          </a:p>
          <a:p>
            <a:r>
              <a:rPr lang="en-US" altLang="en-US"/>
              <a:t>Forms the foundation of many modern language models.</a:t>
            </a:r>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BERT</a:t>
            </a:r>
            <a:endParaRPr lang="en-US" altLang="en-US"/>
          </a:p>
        </p:txBody>
      </p:sp>
      <p:sp>
        <p:nvSpPr>
          <p:cNvPr id="3" name="Content Placeholder 2"/>
          <p:cNvSpPr>
            <a:spLocks noGrp="1"/>
          </p:cNvSpPr>
          <p:nvPr>
            <p:ph idx="1"/>
          </p:nvPr>
        </p:nvSpPr>
        <p:spPr/>
        <p:txBody>
          <a:bodyPr>
            <a:normAutofit/>
          </a:bodyPr>
          <a:p>
            <a:r>
              <a:rPr lang="en-US" altLang="en-US"/>
              <a:t>BERT = Bidirectional Encoder Representations from Transformers</a:t>
            </a:r>
            <a:endParaRPr lang="en-US" altLang="en-US"/>
          </a:p>
          <a:p>
            <a:r>
              <a:rPr lang="en-US" altLang="en-US"/>
              <a:t>BERT is a Transformer-based language model developed for understanding natural language.</a:t>
            </a:r>
            <a:endParaRPr lang="en-US" altLang="en-US"/>
          </a:p>
          <a:p>
            <a:r>
              <a:rPr lang="en-US" altLang="en-US"/>
              <a:t>It uses the Transformer encoder architecture and processes context from both directions.</a:t>
            </a:r>
            <a:endParaRPr lang="en-US" altLang="en-US"/>
          </a:p>
          <a:p>
            <a:r>
              <a:rPr lang="en-US" altLang="en-US"/>
              <a:t>Example</a:t>
            </a:r>
            <a:endParaRPr lang="en-US" altLang="en-US"/>
          </a:p>
          <a:p>
            <a:r>
              <a:rPr lang="en-US" altLang="en-US"/>
              <a:t>The cat sat on the [MASK].</a:t>
            </a:r>
            <a:endParaRPr lang="en-US" altLang="en-US"/>
          </a:p>
          <a:p>
            <a:r>
              <a:rPr lang="en-US" altLang="en-US"/>
              <a:t>BERT can use the words before and after the masked position to predict the missing word.</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Main Features of BERT</a:t>
            </a:r>
            <a:endParaRPr lang="en-US" altLang="en-US"/>
          </a:p>
        </p:txBody>
      </p:sp>
      <p:sp>
        <p:nvSpPr>
          <p:cNvPr id="3" name="Content Placeholder 2"/>
          <p:cNvSpPr>
            <a:spLocks noGrp="1"/>
          </p:cNvSpPr>
          <p:nvPr>
            <p:ph idx="1"/>
          </p:nvPr>
        </p:nvSpPr>
        <p:spPr/>
        <p:txBody>
          <a:bodyPr>
            <a:normAutofit/>
          </a:bodyPr>
          <a:p>
            <a:r>
              <a:rPr lang="en-US" altLang="en-US"/>
              <a:t>Bidirectional Context</a:t>
            </a:r>
            <a:endParaRPr lang="en-US" altLang="en-US"/>
          </a:p>
          <a:p>
            <a:pPr lvl="1"/>
            <a:r>
              <a:rPr lang="en-US" altLang="en-US"/>
              <a:t>BERT considers information from both left and right sides of a word.</a:t>
            </a:r>
            <a:endParaRPr lang="en-US" altLang="en-US"/>
          </a:p>
          <a:p>
            <a:r>
              <a:rPr lang="en-US" altLang="en-US"/>
              <a:t>Transformer Encoder</a:t>
            </a:r>
            <a:endParaRPr lang="en-US" altLang="en-US"/>
          </a:p>
          <a:p>
            <a:pPr lvl="1"/>
            <a:r>
              <a:rPr lang="en-US" altLang="en-US"/>
              <a:t>It uses Transformer encoder layers.</a:t>
            </a:r>
            <a:endParaRPr lang="en-US" altLang="en-US"/>
          </a:p>
          <a:p>
            <a:r>
              <a:rPr lang="en-US" altLang="en-US"/>
              <a:t>Pre-training and Fine-tuning</a:t>
            </a:r>
            <a:endParaRPr lang="en-US" altLang="en-US"/>
          </a:p>
          <a:p>
            <a:pPr lvl="1"/>
            <a:r>
              <a:rPr lang="en-US" altLang="en-US"/>
              <a:t>BERT is first pretrained on large text datasets and can then be fine-tuned for specific tasks.</a:t>
            </a:r>
            <a:endParaRPr lang="en-US" altLang="en-US"/>
          </a:p>
          <a:p>
            <a:r>
              <a:rPr lang="en-US" altLang="en-US"/>
              <a:t>Masked Language Modeling (MLM)</a:t>
            </a:r>
            <a:endParaRPr lang="en-US" altLang="en-US"/>
          </a:p>
          <a:p>
            <a:pPr lvl="1"/>
            <a:r>
              <a:rPr lang="en-US" altLang="en-US"/>
              <a:t>Some words are masked, and the model learns to predict them.</a:t>
            </a:r>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Applications</a:t>
            </a:r>
            <a:endParaRPr lang="en-US" altLang="en-US"/>
          </a:p>
        </p:txBody>
      </p:sp>
      <p:sp>
        <p:nvSpPr>
          <p:cNvPr id="3" name="Content Placeholder 2"/>
          <p:cNvSpPr>
            <a:spLocks noGrp="1"/>
          </p:cNvSpPr>
          <p:nvPr>
            <p:ph idx="1"/>
          </p:nvPr>
        </p:nvSpPr>
        <p:spPr/>
        <p:txBody>
          <a:bodyPr/>
          <a:p>
            <a:r>
              <a:rPr lang="en-US" altLang="en-US"/>
              <a:t>Text classification</a:t>
            </a:r>
            <a:endParaRPr lang="en-US" altLang="en-US"/>
          </a:p>
          <a:p>
            <a:r>
              <a:rPr lang="en-US" altLang="en-US"/>
              <a:t>Sentiment analysis</a:t>
            </a:r>
            <a:endParaRPr lang="en-US" altLang="en-US"/>
          </a:p>
          <a:p>
            <a:r>
              <a:rPr lang="en-US" altLang="en-US"/>
              <a:t>Question answering</a:t>
            </a:r>
            <a:endParaRPr lang="en-US" altLang="en-US"/>
          </a:p>
          <a:p>
            <a:r>
              <a:rPr lang="en-US" altLang="en-US"/>
              <a:t>Named Entity Recognition (NER)</a:t>
            </a:r>
            <a:endParaRPr lang="en-US" altLang="en-US"/>
          </a:p>
          <a:p>
            <a:r>
              <a:rPr lang="en-US" altLang="en-US"/>
              <a:t>Sentence classification</a:t>
            </a:r>
            <a:endParaRPr lang="en-US" altLang="en-US"/>
          </a:p>
          <a:p>
            <a:r>
              <a:rPr lang="en-US" altLang="en-US"/>
              <a:t>Search and information retrieval</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XLNet</a:t>
            </a:r>
            <a:endParaRPr lang="en-US" altLang="en-US"/>
          </a:p>
        </p:txBody>
      </p:sp>
      <p:sp>
        <p:nvSpPr>
          <p:cNvPr id="3" name="Content Placeholder 2"/>
          <p:cNvSpPr>
            <a:spLocks noGrp="1"/>
          </p:cNvSpPr>
          <p:nvPr>
            <p:ph idx="1"/>
          </p:nvPr>
        </p:nvSpPr>
        <p:spPr/>
        <p:txBody>
          <a:bodyPr>
            <a:normAutofit/>
          </a:bodyPr>
          <a:p>
            <a:r>
              <a:rPr lang="en-US" altLang="en-US"/>
              <a:t>XLNet is a generalized autoregressive language model that uses Transformer-XL as its backbone and introduces permutation language modeling.</a:t>
            </a:r>
            <a:endParaRPr lang="en-US" altLang="en-US"/>
          </a:p>
          <a:p>
            <a:pPr lvl="1"/>
            <a:r>
              <a:rPr lang="en-US" altLang="en-US"/>
              <a:t>It was developed to address some limitations of conventional language-model pre-training approaches.</a:t>
            </a:r>
            <a:endParaRPr lang="en-US" altLang="en-US"/>
          </a:p>
          <a:p>
            <a:r>
              <a:rPr lang="en-US" altLang="en-US"/>
              <a:t>Main Idea</a:t>
            </a:r>
            <a:endParaRPr lang="en-US" altLang="en-US"/>
          </a:p>
          <a:p>
            <a:pPr lvl="1"/>
            <a:r>
              <a:rPr lang="en-US" altLang="en-US"/>
              <a:t>Instead of predicting words only from left to right, XLNet uses different permutations of the factorization order to learn from broader contextual information.</a:t>
            </a: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a:t>
            </a:r>
            <a:endParaRPr lang="en-US"/>
          </a:p>
        </p:txBody>
      </p:sp>
      <p:sp>
        <p:nvSpPr>
          <p:cNvPr id="3" name="Content Placeholder 2"/>
          <p:cNvSpPr>
            <a:spLocks noGrp="1"/>
          </p:cNvSpPr>
          <p:nvPr>
            <p:ph idx="1"/>
          </p:nvPr>
        </p:nvSpPr>
        <p:spPr/>
        <p:txBody>
          <a:bodyPr/>
          <a:p>
            <a:r>
              <a:rPr lang="en-US" altLang="en-US"/>
              <a:t>Normal left-to-right:</a:t>
            </a:r>
            <a:endParaRPr lang="en-US" altLang="en-US"/>
          </a:p>
          <a:p>
            <a:r>
              <a:rPr lang="en-US" altLang="en-US"/>
              <a:t>A → B → C → D</a:t>
            </a:r>
            <a:endParaRPr lang="en-US" altLang="en-US"/>
          </a:p>
          <a:p>
            <a:endParaRPr lang="en-US" altLang="en-US"/>
          </a:p>
          <a:p>
            <a:r>
              <a:rPr lang="en-US" altLang="en-US"/>
              <a:t>Permutation-based:</a:t>
            </a:r>
            <a:endParaRPr lang="en-US" altLang="en-US"/>
          </a:p>
          <a:p>
            <a:r>
              <a:rPr lang="en-US" altLang="en-US"/>
              <a:t>C → A → D → B</a:t>
            </a:r>
            <a:endParaRPr lang="en-US" altLang="en-US"/>
          </a:p>
        </p:txBody>
      </p:sp>
      <p:sp>
        <p:nvSpPr>
          <p:cNvPr id="4" name="Text Box 3"/>
          <p:cNvSpPr txBox="1"/>
          <p:nvPr/>
        </p:nvSpPr>
        <p:spPr>
          <a:xfrm>
            <a:off x="5653405" y="483235"/>
            <a:ext cx="5080000" cy="5831840"/>
          </a:xfrm>
          <a:prstGeom prst="rect">
            <a:avLst/>
          </a:prstGeom>
        </p:spPr>
        <p:txBody>
          <a:bodyPr>
            <a:noAutofit/>
          </a:bodyPr>
          <a:p>
            <a:pPr>
              <a:spcAft>
                <a:spcPct val="60000"/>
              </a:spcAft>
            </a:pPr>
            <a:r>
              <a:rPr sz="2200" b="1"/>
              <a:t>Features of XLNet</a:t>
            </a:r>
            <a:endParaRPr sz="2200" b="1"/>
          </a:p>
          <a:p>
            <a:pPr>
              <a:buFont typeface="Arial" panose="020B0604020202020204"/>
              <a:buChar char="•"/>
            </a:pPr>
            <a:r>
              <a:rPr sz="1600"/>
              <a:t> Uses Transformer architecture. </a:t>
            </a:r>
            <a:endParaRPr sz="1600"/>
          </a:p>
          <a:p>
            <a:pPr>
              <a:buFont typeface="Arial" panose="020B0604020202020204"/>
              <a:buChar char="•"/>
            </a:pPr>
            <a:r>
              <a:rPr sz="1600"/>
              <a:t> Uses permutation language modeling. </a:t>
            </a:r>
            <a:endParaRPr sz="1600"/>
          </a:p>
          <a:p>
            <a:pPr>
              <a:buFont typeface="Arial" panose="020B0604020202020204"/>
              <a:buChar char="•"/>
            </a:pPr>
            <a:r>
              <a:rPr sz="1600"/>
              <a:t> Can capture bidirectional contextual information. </a:t>
            </a:r>
            <a:endParaRPr sz="1600"/>
          </a:p>
          <a:p>
            <a:pPr>
              <a:buFont typeface="Arial" panose="020B0604020202020204"/>
              <a:buChar char="•"/>
            </a:pPr>
            <a:r>
              <a:rPr sz="1600"/>
              <a:t> Builds on ideas from Transformer-XL. </a:t>
            </a:r>
            <a:endParaRPr sz="1600"/>
          </a:p>
          <a:p>
            <a:pPr>
              <a:buFont typeface="Arial" panose="020B0604020202020204"/>
              <a:buChar char="•"/>
            </a:pPr>
            <a:r>
              <a:rPr sz="1600"/>
              <a:t> Designed for strong language understanding. </a:t>
            </a:r>
            <a:endParaRPr sz="1600"/>
          </a:p>
          <a:p>
            <a:pPr>
              <a:spcAft>
                <a:spcPct val="60000"/>
              </a:spcAft>
            </a:pPr>
            <a:r>
              <a:rPr sz="2200" b="1"/>
              <a:t>Applications</a:t>
            </a:r>
            <a:endParaRPr sz="2200" b="1"/>
          </a:p>
          <a:p>
            <a:pPr>
              <a:buFont typeface="Arial" panose="020B0604020202020204"/>
              <a:buChar char="•"/>
            </a:pPr>
            <a:r>
              <a:rPr sz="1600"/>
              <a:t> Question answering </a:t>
            </a:r>
            <a:endParaRPr sz="1600"/>
          </a:p>
          <a:p>
            <a:pPr>
              <a:buFont typeface="Arial" panose="020B0604020202020204"/>
              <a:buChar char="•"/>
            </a:pPr>
            <a:r>
              <a:rPr sz="1600"/>
              <a:t> Text classification </a:t>
            </a:r>
            <a:endParaRPr sz="1600"/>
          </a:p>
          <a:p>
            <a:pPr>
              <a:buFont typeface="Arial" panose="020B0604020202020204"/>
              <a:buChar char="•"/>
            </a:pPr>
            <a:r>
              <a:rPr sz="1600"/>
              <a:t> Natural language understanding </a:t>
            </a:r>
            <a:endParaRPr sz="1600"/>
          </a:p>
          <a:p>
            <a:pPr>
              <a:buFont typeface="Arial" panose="020B0604020202020204"/>
              <a:buChar char="•"/>
            </a:pPr>
            <a:r>
              <a:rPr sz="1600"/>
              <a:t> Document analysis </a:t>
            </a:r>
            <a:endParaRPr sz="1600"/>
          </a:p>
          <a:p>
            <a:pPr>
              <a:buFont typeface="Arial" panose="020B0604020202020204"/>
              <a:buChar char="•"/>
            </a:pPr>
            <a:r>
              <a:rPr sz="1600"/>
              <a:t> Sentence classification </a:t>
            </a:r>
            <a:endParaRPr sz="1600"/>
          </a:p>
        </p:txBody>
      </p:sp>
      <p:pic>
        <p:nvPicPr>
          <p:cNvPr id="5" name="Picture 4"/>
          <p:cNvPicPr>
            <a:picLocks noChangeAspect="1"/>
          </p:cNvPicPr>
          <p:nvPr/>
        </p:nvPicPr>
        <p:blipFill>
          <a:blip r:embed="rId1"/>
          <a:stretch>
            <a:fillRect/>
          </a:stretch>
        </p:blipFill>
        <p:spPr>
          <a:xfrm>
            <a:off x="7060565" y="4334510"/>
            <a:ext cx="5071745" cy="252349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r>
              <a:rPr lang="en-US"/>
              <a:t>Thank you</a:t>
            </a:r>
            <a:endParaRPr lang="en-US"/>
          </a:p>
        </p:txBody>
      </p:sp>
      <p:sp>
        <p:nvSpPr>
          <p:cNvPr id="5" name="Subtitle 4"/>
          <p:cNvSpPr>
            <a:spLocks noGrp="1"/>
          </p:cNvSpPr>
          <p:nvPr>
            <p:ph type="subTitle" idx="1"/>
          </p:nvPr>
        </p:nvSpPr>
        <p:spPr/>
        <p:txBody>
          <a:bodyPr/>
          <a:p>
            <a:r>
              <a:rPr lang="en-US"/>
              <a:t>Vraj Suratwala</a:t>
            </a:r>
            <a:endParaRPr lang="en-US"/>
          </a:p>
          <a:p>
            <a:r>
              <a:rPr lang="en-US"/>
              <a:t>Department of ICT, VNSGU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8103</Words>
  <Application>WPS Presentation</Application>
  <PresentationFormat>Widescreen</PresentationFormat>
  <Paragraphs>272</Paragraphs>
  <Slides>40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40</vt:i4>
      </vt:variant>
    </vt:vector>
  </HeadingPairs>
  <TitlesOfParts>
    <vt:vector size="49" baseType="lpstr">
      <vt:lpstr>Arial</vt:lpstr>
      <vt:lpstr>SimSun</vt:lpstr>
      <vt:lpstr>Wingdings</vt:lpstr>
      <vt:lpstr>Calibri Light</vt:lpstr>
      <vt:lpstr>Calibri</vt:lpstr>
      <vt:lpstr>Microsoft YaHei</vt:lpstr>
      <vt:lpstr>Arial Unicode MS</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30</cp:revision>
  <dcterms:created xsi:type="dcterms:W3CDTF">2025-07-23T00:59:00Z</dcterms:created>
  <dcterms:modified xsi:type="dcterms:W3CDTF">2026-09-22T12:11:10Z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8655A06F5A274E878E4344B6654FDB33_11</vt:lpwstr>
  </property>
  <property fmtid="{D5CDD505-2E9C-101B-9397-08002B2CF9AE}" pid="3" name="KSOProductBuildVer">
    <vt:lpwstr>1033-12.1.0.25862</vt:lpwstr>
  </property>
</Properties>
</file>