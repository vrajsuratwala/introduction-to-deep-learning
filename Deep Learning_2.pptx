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0" Type="http://schemas.openxmlformats.org/officeDocument/2006/relationships/tableStyles" Target="tableStyles.xml"/><Relationship Id="rId6" Type="http://schemas.openxmlformats.org/officeDocument/2006/relationships/slide" Target="slides/slide4.xml"/><Relationship Id="rId59" Type="http://schemas.openxmlformats.org/officeDocument/2006/relationships/viewProps" Target="viewProps.xml"/><Relationship Id="rId58" Type="http://schemas.openxmlformats.org/officeDocument/2006/relationships/presProps" Target="presProps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2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image" Target="../media/image3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3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6.xml"/><Relationship Id="rId3" Type="http://schemas.openxmlformats.org/officeDocument/2006/relationships/image" Target="../media/image6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8.xml"/><Relationship Id="rId3" Type="http://schemas.openxmlformats.org/officeDocument/2006/relationships/image" Target="../media/image7.png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1.xml"/><Relationship Id="rId3" Type="http://schemas.openxmlformats.org/officeDocument/2006/relationships/image" Target="../media/image8.png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3.xml"/><Relationship Id="rId2" Type="http://schemas.openxmlformats.org/officeDocument/2006/relationships/image" Target="../media/image9.png"/><Relationship Id="rId1" Type="http://schemas.openxmlformats.org/officeDocument/2006/relationships/tags" Target="../tags/tag102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6.xml"/><Relationship Id="rId3" Type="http://schemas.openxmlformats.org/officeDocument/2006/relationships/image" Target="../media/image10.png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8.xml"/><Relationship Id="rId2" Type="http://schemas.openxmlformats.org/officeDocument/2006/relationships/image" Target="../media/image11.png"/><Relationship Id="rId1" Type="http://schemas.openxmlformats.org/officeDocument/2006/relationships/tags" Target="../tags/tag107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0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tags" Target="../tags/tag109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6.xml"/><Relationship Id="rId3" Type="http://schemas.openxmlformats.org/officeDocument/2006/relationships/image" Target="../media/image14.png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8.xml"/><Relationship Id="rId2" Type="http://schemas.openxmlformats.org/officeDocument/2006/relationships/image" Target="../media/image15.png"/><Relationship Id="rId1" Type="http://schemas.openxmlformats.org/officeDocument/2006/relationships/tags" Target="../tags/tag117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0.xml"/><Relationship Id="rId2" Type="http://schemas.openxmlformats.org/officeDocument/2006/relationships/image" Target="../media/image16.png"/><Relationship Id="rId1" Type="http://schemas.openxmlformats.org/officeDocument/2006/relationships/tags" Target="../tags/tag119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3.xml"/><Relationship Id="rId3" Type="http://schemas.openxmlformats.org/officeDocument/2006/relationships/image" Target="../media/image17.png"/><Relationship Id="rId2" Type="http://schemas.openxmlformats.org/officeDocument/2006/relationships/tags" Target="../tags/tag122.xml"/><Relationship Id="rId1" Type="http://schemas.openxmlformats.org/officeDocument/2006/relationships/tags" Target="../tags/tag121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6.xml"/><Relationship Id="rId3" Type="http://schemas.openxmlformats.org/officeDocument/2006/relationships/image" Target="../media/image18.png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8.xml"/><Relationship Id="rId2" Type="http://schemas.openxmlformats.org/officeDocument/2006/relationships/image" Target="../media/image19.png"/><Relationship Id="rId1" Type="http://schemas.openxmlformats.org/officeDocument/2006/relationships/tags" Target="../tags/tag127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7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tags" Target="../tags/tag136.xml"/><Relationship Id="rId1" Type="http://schemas.openxmlformats.org/officeDocument/2006/relationships/tags" Target="../tags/tag135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9.xml"/><Relationship Id="rId2" Type="http://schemas.openxmlformats.org/officeDocument/2006/relationships/image" Target="../media/image22.png"/><Relationship Id="rId1" Type="http://schemas.openxmlformats.org/officeDocument/2006/relationships/tags" Target="../tags/tag138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1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tags" Target="../tags/tag140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3.xml"/><Relationship Id="rId2" Type="http://schemas.openxmlformats.org/officeDocument/2006/relationships/image" Target="../media/image25.png"/><Relationship Id="rId1" Type="http://schemas.openxmlformats.org/officeDocument/2006/relationships/tags" Target="../tags/tag142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2.xml"/><Relationship Id="rId3" Type="http://schemas.openxmlformats.org/officeDocument/2006/relationships/image" Target="../media/image26.png"/><Relationship Id="rId2" Type="http://schemas.openxmlformats.org/officeDocument/2006/relationships/tags" Target="../tags/tag151.xml"/><Relationship Id="rId1" Type="http://schemas.openxmlformats.org/officeDocument/2006/relationships/tags" Target="../tags/tag150.xml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55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tags" Target="../tags/tag154.xml"/><Relationship Id="rId1" Type="http://schemas.openxmlformats.org/officeDocument/2006/relationships/tags" Target="../tags/tag153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7.xml"/><Relationship Id="rId2" Type="http://schemas.openxmlformats.org/officeDocument/2006/relationships/image" Target="../media/image29.png"/><Relationship Id="rId1" Type="http://schemas.openxmlformats.org/officeDocument/2006/relationships/tags" Target="../tags/tag156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0.xml"/><Relationship Id="rId3" Type="http://schemas.openxmlformats.org/officeDocument/2006/relationships/image" Target="../media/image30.png"/><Relationship Id="rId2" Type="http://schemas.openxmlformats.org/officeDocument/2006/relationships/tags" Target="../tags/tag159.xml"/><Relationship Id="rId1" Type="http://schemas.openxmlformats.org/officeDocument/2006/relationships/tags" Target="../tags/tag158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2.xml"/><Relationship Id="rId2" Type="http://schemas.openxmlformats.org/officeDocument/2006/relationships/image" Target="../media/image31.png"/><Relationship Id="rId1" Type="http://schemas.openxmlformats.org/officeDocument/2006/relationships/tags" Target="../tags/tag161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4.xml"/><Relationship Id="rId2" Type="http://schemas.openxmlformats.org/officeDocument/2006/relationships/image" Target="../media/image32.png"/><Relationship Id="rId1" Type="http://schemas.openxmlformats.org/officeDocument/2006/relationships/tags" Target="../tags/tag163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" Type="http://schemas.openxmlformats.org/officeDocument/2006/relationships/tags" Target="../tags/tag165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0.xml"/><Relationship Id="rId3" Type="http://schemas.openxmlformats.org/officeDocument/2006/relationships/image" Target="../media/image33.png"/><Relationship Id="rId2" Type="http://schemas.openxmlformats.org/officeDocument/2006/relationships/tags" Target="../tags/tag169.xml"/><Relationship Id="rId1" Type="http://schemas.openxmlformats.org/officeDocument/2006/relationships/tags" Target="../tags/tag168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2.xml"/><Relationship Id="rId2" Type="http://schemas.openxmlformats.org/officeDocument/2006/relationships/image" Target="../media/image34.png"/><Relationship Id="rId1" Type="http://schemas.openxmlformats.org/officeDocument/2006/relationships/tags" Target="../tags/tag171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tags" Target="../tags/tag173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7.xml"/><Relationship Id="rId2" Type="http://schemas.openxmlformats.org/officeDocument/2006/relationships/image" Target="../media/image35.png"/><Relationship Id="rId1" Type="http://schemas.openxmlformats.org/officeDocument/2006/relationships/tags" Target="../tags/tag176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" Type="http://schemas.openxmlformats.org/officeDocument/2006/relationships/tags" Target="../tags/tag178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" Type="http://schemas.openxmlformats.org/officeDocument/2006/relationships/tags" Target="../tags/tag181.xm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6.xml"/><Relationship Id="rId2" Type="http://schemas.openxmlformats.org/officeDocument/2006/relationships/tags" Target="../tags/tag185.xml"/><Relationship Id="rId1" Type="http://schemas.openxmlformats.org/officeDocument/2006/relationships/tags" Target="../tags/tag184.xml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" Type="http://schemas.openxmlformats.org/officeDocument/2006/relationships/tags" Target="../tags/tag187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" Type="http://schemas.openxmlformats.org/officeDocument/2006/relationships/tags" Target="../tags/tag190.xml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94.xml"/><Relationship Id="rId2" Type="http://schemas.openxmlformats.org/officeDocument/2006/relationships/image" Target="../media/image36.png"/><Relationship Id="rId1" Type="http://schemas.openxmlformats.org/officeDocument/2006/relationships/tags" Target="../tags/tag193.xml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96.xml"/><Relationship Id="rId2" Type="http://schemas.openxmlformats.org/officeDocument/2006/relationships/image" Target="../media/image37.png"/><Relationship Id="rId1" Type="http://schemas.openxmlformats.org/officeDocument/2006/relationships/tags" Target="../tags/tag195.xml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99.xml"/><Relationship Id="rId2" Type="http://schemas.openxmlformats.org/officeDocument/2006/relationships/tags" Target="../tags/tag198.xml"/><Relationship Id="rId1" Type="http://schemas.openxmlformats.org/officeDocument/2006/relationships/tags" Target="../tags/tag197.xml"/></Relationships>
</file>

<file path=ppt/slides/_rels/slide5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2.xml"/><Relationship Id="rId3" Type="http://schemas.openxmlformats.org/officeDocument/2006/relationships/image" Target="../media/image38.png"/><Relationship Id="rId2" Type="http://schemas.openxmlformats.org/officeDocument/2006/relationships/tags" Target="../tags/tag201.xml"/><Relationship Id="rId1" Type="http://schemas.openxmlformats.org/officeDocument/2006/relationships/tags" Target="../tags/tag200.xml"/></Relationships>
</file>

<file path=ppt/slides/_rels/slide5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5.xml"/><Relationship Id="rId3" Type="http://schemas.openxmlformats.org/officeDocument/2006/relationships/image" Target="../media/image39.png"/><Relationship Id="rId2" Type="http://schemas.openxmlformats.org/officeDocument/2006/relationships/tags" Target="../tags/tag204.xml"/><Relationship Id="rId1" Type="http://schemas.openxmlformats.org/officeDocument/2006/relationships/tags" Target="../tags/tag203.xml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07.xml"/><Relationship Id="rId2" Type="http://schemas.openxmlformats.org/officeDocument/2006/relationships/image" Target="../media/image40.png"/><Relationship Id="rId1" Type="http://schemas.openxmlformats.org/officeDocument/2006/relationships/tags" Target="../tags/tag206.xml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210.xml"/><Relationship Id="rId2" Type="http://schemas.openxmlformats.org/officeDocument/2006/relationships/tags" Target="../tags/tag209.xml"/><Relationship Id="rId1" Type="http://schemas.openxmlformats.org/officeDocument/2006/relationships/tags" Target="../tags/tag20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Deep Learning 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Multi-Layered Feed Forward Neural Network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Multi-Layered Feed Forward Neural Network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A Multi-Layered Feed Forward Neural Network (MLFFNN) is an artificial neural network consisting of an input layer, one or more hidden layers, and an output layer.</a:t>
            </a:r>
            <a:endParaRPr lang="en-US" altLang="en-US"/>
          </a:p>
          <a:p>
            <a:r>
              <a:rPr lang="en-US" altLang="en-US"/>
              <a:t>The information flows only in the forward direction, from input to output. There are no feedback or recurrent connections.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 t="7913"/>
          <a:stretch>
            <a:fillRect/>
          </a:stretch>
        </p:blipFill>
        <p:spPr>
          <a:xfrm>
            <a:off x="608330" y="3336925"/>
            <a:ext cx="10160000" cy="25495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Basic Architecture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A typical MLFFNN contains three types of layers:</a:t>
            </a:r>
            <a:endParaRPr lang="en-US" altLang="en-US"/>
          </a:p>
          <a:p>
            <a:r>
              <a:rPr lang="en-US" altLang="en-US"/>
              <a:t>1. Input Layer</a:t>
            </a:r>
            <a:endParaRPr lang="en-US" altLang="en-US"/>
          </a:p>
          <a:p>
            <a:pPr lvl="1"/>
            <a:r>
              <a:rPr lang="en-US" altLang="en-US"/>
              <a:t>Receives the input features.</a:t>
            </a:r>
            <a:endParaRPr lang="en-US" altLang="en-US"/>
          </a:p>
          <a:p>
            <a:pPr lvl="1"/>
            <a:r>
              <a:rPr lang="en-US" altLang="en-US"/>
              <a:t>Does not normally perform a major computation.</a:t>
            </a:r>
            <a:endParaRPr lang="en-US" altLang="en-US"/>
          </a:p>
          <a:p>
            <a:pPr lvl="1"/>
            <a:r>
              <a:rPr lang="en-US" altLang="en-US"/>
              <a:t>Each neuron corresponds to an input feature.</a:t>
            </a:r>
            <a:endParaRPr lang="en-US" altLang="en-US"/>
          </a:p>
          <a:p>
            <a:r>
              <a:rPr lang="en-US" altLang="en-US"/>
              <a:t>Example : </a:t>
            </a:r>
            <a:endParaRPr lang="en-US" altLang="en-US"/>
          </a:p>
          <a:p>
            <a:pPr lvl="1"/>
            <a:r>
              <a:rPr lang="en-US" altLang="en-US"/>
              <a:t>X = [x1,x2,x3]</a:t>
            </a:r>
            <a:endParaRPr lang="en-US" altLang="en-US"/>
          </a:p>
          <a:p>
            <a:pPr lvl="1"/>
            <a:endParaRPr lang="en-US" altLang="en-US"/>
          </a:p>
          <a:p>
            <a:pPr lvl="0"/>
            <a:r>
              <a:rPr lang="en-US" altLang="en-US"/>
              <a:t>2. Hidden Layer</a:t>
            </a:r>
            <a:endParaRPr lang="en-US" altLang="en-US"/>
          </a:p>
          <a:p>
            <a:pPr lvl="1"/>
            <a:r>
              <a:rPr lang="en-US" altLang="en-US"/>
              <a:t>Performs mathematical transformations on the input.</a:t>
            </a:r>
            <a:endParaRPr lang="en-US" altLang="en-US"/>
          </a:p>
          <a:p>
            <a:pPr lvl="1"/>
            <a:r>
              <a:rPr lang="en-US" altLang="en-US"/>
              <a:t>A network can have one or multiple hidden layers.</a:t>
            </a:r>
            <a:endParaRPr lang="en-US" altLang="en-US"/>
          </a:p>
          <a:p>
            <a:pPr lvl="1"/>
            <a:r>
              <a:rPr lang="en-US" altLang="en-US"/>
              <a:t>Each neuron generally performs a weighted sum followed by an activation function.</a:t>
            </a:r>
            <a:endParaRPr lang="en-US" altLang="en-US"/>
          </a:p>
          <a:p>
            <a:pPr lvl="1"/>
            <a:endParaRPr lang="en-US" altLang="en-US"/>
          </a:p>
          <a:p>
            <a:pPr lvl="1"/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1610" y="3895725"/>
            <a:ext cx="3775710" cy="159131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Basic Architecture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Output Layer</a:t>
            </a:r>
            <a:endParaRPr lang="en-US" altLang="en-US"/>
          </a:p>
          <a:p>
            <a:pPr lvl="1"/>
            <a:r>
              <a:rPr lang="en-US" altLang="en-US"/>
              <a:t>Produces the final prediction.</a:t>
            </a:r>
            <a:endParaRPr lang="en-US" altLang="en-US"/>
          </a:p>
          <a:p>
            <a:pPr lvl="1"/>
            <a:r>
              <a:rPr lang="en-US" altLang="en-US"/>
              <a:t>The number and type of output neurons depend on the problem.</a:t>
            </a:r>
            <a:endParaRPr lang="en-US" altLang="en-US"/>
          </a:p>
          <a:p>
            <a:r>
              <a:rPr lang="en-US" altLang="en-US"/>
              <a:t>Examples:</a:t>
            </a:r>
            <a:endParaRPr lang="en-US" altLang="en-US"/>
          </a:p>
          <a:p>
            <a:pPr lvl="1"/>
            <a:r>
              <a:rPr lang="en-US" altLang="en-US"/>
              <a:t>Binary classification → commonly one output</a:t>
            </a:r>
            <a:endParaRPr lang="en-US" altLang="en-US"/>
          </a:p>
          <a:p>
            <a:pPr lvl="1"/>
            <a:r>
              <a:rPr lang="en-US" altLang="en-US"/>
              <a:t>Multiclass classification → multiple outputs, often with Softmax</a:t>
            </a:r>
            <a:endParaRPr lang="en-US" altLang="en-US"/>
          </a:p>
          <a:p>
            <a:pPr lvl="1"/>
            <a:r>
              <a:rPr lang="en-US" altLang="en-US"/>
              <a:t>Regression → commonly one continuous output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Why is it called "Feed Forward"?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It is called feed forward because information moves in only one direction:</a:t>
            </a:r>
            <a:endParaRPr lang="en-US" altLang="en-US"/>
          </a:p>
          <a:p>
            <a:r>
              <a:rPr lang="en-US" altLang="en-US"/>
              <a:t>Input Layer ------- Hiddne Layer ------- Output Layer</a:t>
            </a:r>
            <a:endParaRPr lang="en-US" altLang="en-US"/>
          </a:p>
          <a:p>
            <a:r>
              <a:rPr lang="en-US" altLang="en-US"/>
              <a:t>There is no connection from a later layer back to an earlier layer during the forward pass.</a:t>
            </a:r>
            <a:endParaRPr lang="en-US" altLang="en-US"/>
          </a:p>
          <a:p>
            <a:r>
              <a:rPr lang="en-US" altLang="en-US"/>
              <a:t>Let’s Explore Mathematical Representation.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Mathematical Representations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21995" y="1313815"/>
            <a:ext cx="4745990" cy="52254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Working of MLFFNN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86130" y="1419860"/>
            <a:ext cx="5557520" cy="47593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1871980"/>
            <a:ext cx="5822950" cy="498602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313815"/>
            <a:ext cx="7411085" cy="515112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847840" y="899160"/>
            <a:ext cx="5080000" cy="2061210"/>
          </a:xfrm>
          <a:prstGeom prst="rect">
            <a:avLst/>
          </a:prstGeom>
        </p:spPr>
        <p:txBody>
          <a:bodyPr>
            <a:spAutoFit/>
          </a:bodyPr>
          <a:p>
            <a:pPr marL="285750" indent="-285750">
              <a:buFont typeface="Arial" panose="020B0604020202090204" pitchFamily="34" charset="0"/>
              <a:buChar char="•"/>
            </a:pPr>
            <a:endParaRPr sz="1600" b="0" i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sz="1600" b="0" i="0">
                <a:solidFill>
                  <a:srgbClr val="000000"/>
                </a:solidFill>
              </a:rPr>
              <a:t>Requires appropriate training data.</a:t>
            </a:r>
            <a:endParaRPr sz="1600" b="0" i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sz="1600" b="0" i="0">
                <a:solidFill>
                  <a:srgbClr val="000000"/>
                </a:solidFill>
              </a:rPr>
              <a:t>Training can be computationally expensive for large networks.</a:t>
            </a:r>
            <a:endParaRPr sz="1600" b="0" i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sz="1600" b="0" i="0">
                <a:solidFill>
                  <a:srgbClr val="000000"/>
                </a:solidFill>
              </a:rPr>
              <a:t>Can suffer from overfitting.</a:t>
            </a:r>
            <a:endParaRPr sz="1600" b="0" i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sz="1600" b="0" i="0">
                <a:solidFill>
                  <a:srgbClr val="000000"/>
                </a:solidFill>
              </a:rPr>
              <a:t>Choice of architecture and hyperparameters affects performance.</a:t>
            </a:r>
            <a:endParaRPr sz="1600" b="0" i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sz="1600" b="0" i="0">
                <a:solidFill>
                  <a:srgbClr val="000000"/>
                </a:solidFill>
              </a:rPr>
              <a:t>Deep networks can be difficult to interpret.</a:t>
            </a:r>
            <a:endParaRPr sz="1600" b="0" i="0">
              <a:solidFill>
                <a:srgbClr val="000000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Comparision Table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2"/>
            </p:custDataLst>
          </p:nvPr>
        </p:nvGraphicFramePr>
        <p:xfrm>
          <a:off x="853440" y="1310640"/>
          <a:ext cx="10485120" cy="445770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742950">
                <a:tc>
                  <a:txBody>
                    <a:bodyPr/>
                    <a:p>
                      <a:pPr algn="ctr"/>
                      <a:r>
                        <a:rPr sz="1800" b="1" i="0">
                          <a:solidFill>
                            <a:srgbClr val="00000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Feature</a:t>
                      </a:r>
                      <a:endParaRPr sz="1800" b="1" i="0">
                        <a:solidFill>
                          <a:srgbClr val="00000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 i="0">
                          <a:solidFill>
                            <a:srgbClr val="00000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Feed Forward NN</a:t>
                      </a:r>
                      <a:endParaRPr sz="1800" b="1" i="0">
                        <a:solidFill>
                          <a:srgbClr val="00000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 i="0">
                          <a:solidFill>
                            <a:srgbClr val="00000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Recurrent NN</a:t>
                      </a:r>
                      <a:endParaRPr sz="1800" b="1" i="0">
                        <a:solidFill>
                          <a:srgbClr val="00000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2950"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Information flow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Forward only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Can include recurrent connections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2950"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Memory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No internal sequence memory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Maintains information through recurrent state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2950"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Main use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Classification, regression, pattern recognition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Sequential/time-series data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2950"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Feedback connection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No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Yes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2950"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Example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MLP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</a:rPr>
                        <a:t>RNN, LSTM</a:t>
                      </a:r>
                      <a:endParaRPr sz="16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Activation Function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2.2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Introduction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An activation function determines the output of a neuron based on its weighted input and introduces non-linearity into a neural network.</a:t>
            </a:r>
            <a:endParaRPr lang="en-US" altLang="en-US"/>
          </a:p>
          <a:p>
            <a:r>
              <a:rPr lang="en-US" altLang="en-US"/>
              <a:t>For a neuron:</a:t>
            </a:r>
            <a:endParaRPr lang="en-US" altLang="en-US"/>
          </a:p>
          <a:p>
            <a:pPr lvl="1"/>
            <a:r>
              <a:rPr lang="en-US" altLang="en-US"/>
              <a:t>z=Wx+b</a:t>
            </a:r>
            <a:endParaRPr lang="en-US" altLang="en-US"/>
          </a:p>
          <a:p>
            <a:r>
              <a:rPr lang="en-US" altLang="en-US"/>
              <a:t>The activation function produces:</a:t>
            </a:r>
            <a:endParaRPr lang="en-US" altLang="en-US"/>
          </a:p>
          <a:p>
            <a:pPr lvl="1"/>
            <a:r>
              <a:rPr lang="en-US" altLang="en-US"/>
              <a:t>a=f(z)</a:t>
            </a:r>
            <a:endParaRPr lang="en-US" altLang="en-US"/>
          </a:p>
          <a:p>
            <a:pPr lvl="1"/>
            <a:endParaRPr lang="en-US" altLang="en-US"/>
          </a:p>
          <a:p>
            <a:pPr lvl="0"/>
            <a:r>
              <a:rPr lang="en-US" altLang="en-US"/>
              <a:t>Without nonlinear activation functions, stacking multiple neural-network layers would effectively behave like a linear transformation, limiting the network's ability to learn complex relationships.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Major Activation Function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540510"/>
            <a:ext cx="10968990" cy="46577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Linear Activation Function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16915" y="1526540"/>
            <a:ext cx="7975600" cy="46863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8330" y="608330"/>
            <a:ext cx="7258685" cy="570039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Tanh Function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490345"/>
            <a:ext cx="8217535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rcRect r="33910"/>
          <a:stretch>
            <a:fillRect/>
          </a:stretch>
        </p:blipFill>
        <p:spPr>
          <a:xfrm>
            <a:off x="701675" y="608330"/>
            <a:ext cx="5046980" cy="573532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954395" y="608330"/>
            <a:ext cx="5080000" cy="4684395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spcAft>
                <a:spcPct val="60000"/>
              </a:spcAft>
            </a:pPr>
            <a:r>
              <a:rPr sz="2200" b="1" i="0">
                <a:solidFill>
                  <a:srgbClr val="000000"/>
                </a:solidFill>
              </a:rPr>
              <a:t>Advantages</a:t>
            </a:r>
            <a:endParaRPr sz="2200" b="1" i="0">
              <a:solidFill>
                <a:srgbClr val="000000"/>
              </a:solidFill>
            </a:endParaRPr>
          </a:p>
          <a:p>
            <a:pPr marL="0" indent="0">
              <a:buFont typeface="Arial" panose="020B0604020202090204"/>
              <a:buChar char="•"/>
            </a:pPr>
            <a:r>
              <a:rPr lang="en-US" sz="1600" b="0" i="0">
                <a:solidFill>
                  <a:srgbClr val="000000"/>
                </a:solidFill>
              </a:rPr>
              <a:t> </a:t>
            </a:r>
            <a:r>
              <a:rPr sz="1600" b="0" i="0">
                <a:solidFill>
                  <a:srgbClr val="000000"/>
                </a:solidFill>
              </a:rPr>
              <a:t>Simple and computationally efficient.</a:t>
            </a:r>
            <a:endParaRPr sz="1600" b="0" i="0">
              <a:solidFill>
                <a:srgbClr val="000000"/>
              </a:solidFill>
            </a:endParaRPr>
          </a:p>
          <a:p>
            <a:pPr marL="0" indent="0">
              <a:buFont typeface="Arial" panose="020B0604020202090204"/>
              <a:buChar char="•"/>
            </a:pPr>
            <a:r>
              <a:rPr lang="en-US" sz="1600" b="0" i="0">
                <a:solidFill>
                  <a:srgbClr val="000000"/>
                </a:solidFill>
              </a:rPr>
              <a:t> </a:t>
            </a:r>
            <a:r>
              <a:rPr sz="1600" b="0" i="0">
                <a:solidFill>
                  <a:srgbClr val="000000"/>
                </a:solidFill>
              </a:rPr>
              <a:t>Helps reduce some gradient problems compared with sigmoid/tanh in deep networks.</a:t>
            </a:r>
            <a:endParaRPr sz="1600" b="0" i="0">
              <a:solidFill>
                <a:srgbClr val="000000"/>
              </a:solidFill>
            </a:endParaRPr>
          </a:p>
          <a:p>
            <a:pPr marL="0" indent="0">
              <a:buFont typeface="Arial" panose="020B0604020202090204"/>
              <a:buChar char="•"/>
            </a:pPr>
            <a:r>
              <a:rPr lang="en-US" sz="1600" b="0" i="0">
                <a:solidFill>
                  <a:srgbClr val="000000"/>
                </a:solidFill>
              </a:rPr>
              <a:t> </a:t>
            </a:r>
            <a:r>
              <a:rPr sz="1600" b="0" i="0">
                <a:solidFill>
                  <a:srgbClr val="000000"/>
                </a:solidFill>
              </a:rPr>
              <a:t>Widely used in hidden layers.</a:t>
            </a:r>
            <a:endParaRPr sz="1600" b="0" i="0">
              <a:solidFill>
                <a:srgbClr val="000000"/>
              </a:solidFill>
            </a:endParaRPr>
          </a:p>
          <a:p>
            <a:pPr marL="0" indent="0">
              <a:spcAft>
                <a:spcPct val="60000"/>
              </a:spcAft>
            </a:pPr>
            <a:endParaRPr sz="2200" b="1" i="0">
              <a:solidFill>
                <a:srgbClr val="000000"/>
              </a:solidFill>
            </a:endParaRPr>
          </a:p>
          <a:p>
            <a:pPr marL="0" indent="0">
              <a:spcAft>
                <a:spcPct val="60000"/>
              </a:spcAft>
            </a:pPr>
            <a:r>
              <a:rPr sz="2200" b="1" i="0">
                <a:solidFill>
                  <a:srgbClr val="000000"/>
                </a:solidFill>
              </a:rPr>
              <a:t>Limitation</a:t>
            </a:r>
            <a:endParaRPr sz="2200" b="1" i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sz="1600" b="0" i="0">
                <a:solidFill>
                  <a:srgbClr val="000000"/>
                </a:solidFill>
              </a:rPr>
              <a:t>For negative inputs, the output is zero, and neurons can sometimes become inactive—known as the dying ReLU problem.</a:t>
            </a:r>
            <a:endParaRPr sz="1600" b="0" i="0">
              <a:solidFill>
                <a:srgbClr val="000000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rcRect r="4264"/>
          <a:stretch>
            <a:fillRect/>
          </a:stretch>
        </p:blipFill>
        <p:spPr>
          <a:xfrm>
            <a:off x="608330" y="608330"/>
            <a:ext cx="6715760" cy="6007735"/>
          </a:xfrm>
          <a:prstGeom prst="rect">
            <a:avLst/>
          </a:prstGeom>
        </p:spPr>
      </p:pic>
      <p:pic>
        <p:nvPicPr>
          <p:cNvPr id="5" name="Picture 4" descr="Screenshot 2026-09-01 at 3.29.19 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175" y="2709545"/>
            <a:ext cx="5208270" cy="39065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Loss Function 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2.3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Introduction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384300"/>
            <a:ext cx="7447280" cy="529399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8330" y="608330"/>
            <a:ext cx="9220200" cy="41148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4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8330" y="608330"/>
            <a:ext cx="9116060" cy="47593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Cross-Entropy Loss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419860"/>
            <a:ext cx="8285480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06120" y="1704975"/>
            <a:ext cx="9220200" cy="41656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8330" y="608330"/>
            <a:ext cx="10666730" cy="441198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Learning with Backpropagation</a:t>
            </a:r>
            <a:endParaRPr lang="en-US" alt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2.4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I</a:t>
            </a:r>
            <a:r>
              <a:rPr lang="en-US" altLang="en-US"/>
              <a:t>ntroduction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Backpropagation is a supervised learning algorithm used to train neural networks. It calculates how much each weight contributes to the error and uses this information to update the network's weights and biases.</a:t>
            </a:r>
            <a:endParaRPr lang="en-US" altLang="en-US"/>
          </a:p>
          <a:p>
            <a:r>
              <a:rPr lang="en-US" altLang="en-US"/>
              <a:t>It works in two main stages:</a:t>
            </a:r>
            <a:endParaRPr lang="en-US" altLang="en-US"/>
          </a:p>
          <a:p>
            <a:pPr algn="ctr"/>
            <a:r>
              <a:rPr lang="en-US" altLang="en-US" sz="3600"/>
              <a:t>Forward Propagation→Backward Propagation</a:t>
            </a:r>
            <a:endParaRPr lang="en-US" altLang="en-US" sz="3600"/>
          </a:p>
          <a:p>
            <a:endParaRPr lang="en-US" altLang="en-US" sz="3600"/>
          </a:p>
        </p:txBody>
      </p:sp>
    </p:spTree>
    <p:custDataLst>
      <p:tags r:id="rId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Working of Backpropagation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429500" y="1163320"/>
            <a:ext cx="4762500" cy="4165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313815"/>
            <a:ext cx="6593205" cy="520763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25450" y="326390"/>
            <a:ext cx="8355330" cy="63106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19735" y="443865"/>
            <a:ext cx="8427720" cy="498221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0" y="2117090"/>
            <a:ext cx="3873500" cy="304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8330" y="617220"/>
            <a:ext cx="10716895" cy="53740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Optimization with Gradient Descent</a:t>
            </a:r>
            <a:endParaRPr lang="en-US" alt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2.5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Optimization with Gradient Descent -  Introduction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Gradient Descent is an optimization algorithm used to minimize the loss function of a neural network. It repeatedly adjusts the model's weights and biases in the direction that reduces the loss.</a:t>
            </a:r>
            <a:endParaRPr lang="en-US" altLang="en-US"/>
          </a:p>
          <a:p>
            <a:r>
              <a:rPr lang="en-US" altLang="en-US"/>
              <a:t>The basic idea is:</a:t>
            </a:r>
            <a:endParaRPr lang="en-US" altLang="en-US"/>
          </a:p>
          <a:p>
            <a:r>
              <a:rPr lang="en-US" altLang="en-US"/>
              <a:t>Calculate the gradient → move in the opposite direction → reduce the loss.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Basic Formula 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490345"/>
            <a:ext cx="8639175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Working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r="50165"/>
          <a:stretch>
            <a:fillRect/>
          </a:stretch>
        </p:blipFill>
        <p:spPr>
          <a:xfrm>
            <a:off x="608330" y="1490345"/>
            <a:ext cx="4305300" cy="47593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5515" y="1567815"/>
            <a:ext cx="7436485" cy="487870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93470" y="0"/>
            <a:ext cx="10453370" cy="6858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Types of Gradient Decent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42315" y="1490345"/>
            <a:ext cx="8183880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8330" y="608330"/>
            <a:ext cx="9799320" cy="56991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rcRect r="9495"/>
          <a:stretch>
            <a:fillRect/>
          </a:stretch>
        </p:blipFill>
        <p:spPr>
          <a:xfrm>
            <a:off x="1062990" y="726440"/>
            <a:ext cx="10066020" cy="46831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Overfitting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2.6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Introduction	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Overfitting occurs when a neural network learns the training data too closely, including its noise and specific patterns, instead of learning general patterns that work on unseen data.</a:t>
            </a:r>
            <a:endParaRPr lang="en-US" altLang="en-US"/>
          </a:p>
          <a:p>
            <a:r>
              <a:rPr lang="en-US" altLang="en-US"/>
              <a:t>As a result:</a:t>
            </a:r>
            <a:endParaRPr lang="en-US" altLang="en-US"/>
          </a:p>
          <a:p>
            <a:r>
              <a:rPr lang="en-US" altLang="en-US"/>
              <a:t>Training performance is very good</a:t>
            </a:r>
            <a:endParaRPr lang="en-US" altLang="en-US"/>
          </a:p>
          <a:p>
            <a:r>
              <a:rPr lang="en-US" altLang="en-US"/>
              <a:t>Validation/Test performance is poor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 r="63679"/>
          <a:stretch>
            <a:fillRect/>
          </a:stretch>
        </p:blipFill>
        <p:spPr>
          <a:xfrm>
            <a:off x="7462520" y="2319020"/>
            <a:ext cx="4105910" cy="40405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8330" y="608330"/>
            <a:ext cx="9787255" cy="58058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Casues of Overfitting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Common causes include:</a:t>
            </a:r>
            <a:endParaRPr lang="en-US" altLang="en-US"/>
          </a:p>
          <a:p>
            <a:r>
              <a:rPr lang="en-US" altLang="en-US"/>
              <a:t>Very complex model compared with the amount of training data.</a:t>
            </a:r>
            <a:endParaRPr lang="en-US" altLang="en-US"/>
          </a:p>
          <a:p>
            <a:r>
              <a:rPr lang="en-US" altLang="en-US"/>
              <a:t>Insufficient training data.</a:t>
            </a:r>
            <a:endParaRPr lang="en-US" altLang="en-US"/>
          </a:p>
          <a:p>
            <a:r>
              <a:rPr lang="en-US" altLang="en-US"/>
              <a:t>Training for too many epochs.</a:t>
            </a:r>
            <a:endParaRPr lang="en-US" altLang="en-US"/>
          </a:p>
          <a:p>
            <a:r>
              <a:rPr lang="en-US" altLang="en-US"/>
              <a:t>Noisy or unrepresentative training data.</a:t>
            </a:r>
            <a:endParaRPr lang="en-US" altLang="en-US"/>
          </a:p>
          <a:p>
            <a:r>
              <a:rPr lang="en-US" altLang="en-US"/>
              <a:t>Excessive number of parameters.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8330" y="608330"/>
            <a:ext cx="10535285" cy="596963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How to Reduce Overfitting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80000"/>
          </a:bodyPr>
          <a:p>
            <a:r>
              <a:rPr lang="en-US" altLang="en-US"/>
              <a:t>Some common approaches are:</a:t>
            </a:r>
            <a:endParaRPr lang="en-US" altLang="en-US"/>
          </a:p>
          <a:p>
            <a:pPr lvl="1"/>
            <a:r>
              <a:rPr lang="en-US" altLang="en-US"/>
              <a:t>More training data</a:t>
            </a:r>
            <a:endParaRPr lang="en-US" altLang="en-US"/>
          </a:p>
          <a:p>
            <a:pPr lvl="1"/>
            <a:r>
              <a:rPr lang="en-US" altLang="en-US"/>
              <a:t>Data augmentation where appropriate</a:t>
            </a:r>
            <a:endParaRPr lang="en-US" altLang="en-US"/>
          </a:p>
          <a:p>
            <a:pPr lvl="1"/>
            <a:r>
              <a:rPr lang="en-US" altLang="en-US"/>
              <a:t>Regularization</a:t>
            </a:r>
            <a:endParaRPr lang="en-US" altLang="en-US"/>
          </a:p>
          <a:p>
            <a:pPr lvl="1"/>
            <a:r>
              <a:rPr lang="en-US" altLang="en-US"/>
              <a:t>Dropout</a:t>
            </a:r>
            <a:endParaRPr lang="en-US" altLang="en-US"/>
          </a:p>
          <a:p>
            <a:pPr lvl="1"/>
            <a:r>
              <a:rPr lang="en-US" altLang="en-US"/>
              <a:t>Early stopping</a:t>
            </a:r>
            <a:endParaRPr lang="en-US" altLang="en-US"/>
          </a:p>
          <a:p>
            <a:pPr lvl="1"/>
            <a:r>
              <a:rPr lang="en-US" altLang="en-US"/>
              <a:t>Reducing model complexity</a:t>
            </a:r>
            <a:endParaRPr lang="en-US" altLang="en-US"/>
          </a:p>
          <a:p>
            <a:r>
              <a:rPr lang="en-US" altLang="en-US"/>
              <a:t>Regularization</a:t>
            </a:r>
            <a:endParaRPr lang="en-US" altLang="en-US"/>
          </a:p>
          <a:p>
            <a:pPr lvl="1"/>
            <a:r>
              <a:rPr lang="en-US" altLang="en-US"/>
              <a:t>Regularization adds a penalty to the learning objective to discourage excessively complex parameter values.</a:t>
            </a:r>
            <a:endParaRPr lang="en-US" altLang="en-US"/>
          </a:p>
          <a:p>
            <a:r>
              <a:rPr lang="en-US" altLang="en-US"/>
              <a:t>Dropout</a:t>
            </a:r>
            <a:endParaRPr lang="en-US" altLang="en-US"/>
          </a:p>
          <a:p>
            <a:pPr lvl="1"/>
            <a:r>
              <a:rPr lang="en-US" altLang="en-US"/>
              <a:t>Dropout temporarily removes/ignores a subset of neurons during training, helping reduce reliance on particular neurons.</a:t>
            </a:r>
            <a:endParaRPr lang="en-US" altLang="en-US"/>
          </a:p>
          <a:p>
            <a:r>
              <a:rPr lang="en-US" altLang="en-US"/>
              <a:t>Early Stopping</a:t>
            </a:r>
            <a:endParaRPr lang="en-US" altLang="en-US"/>
          </a:p>
          <a:p>
            <a:pPr lvl="1"/>
            <a:r>
              <a:rPr lang="en-US" altLang="en-US"/>
              <a:t>Training is stopped when validation performance stops improving, rather than continuing indefinitely.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Types of Bias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2.7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Bias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Bias is the error introduced when a model makes overly simplified assumptions about the relationship between input and output.</a:t>
            </a:r>
            <a:endParaRPr lang="en-US" altLang="en-US"/>
          </a:p>
          <a:p>
            <a:r>
              <a:rPr lang="en-US" altLang="en-US"/>
              <a:t>A model with high bias is generally too simple to capture the underlying patterns in the data.</a:t>
            </a:r>
            <a:endParaRPr lang="en-US" altLang="en-US"/>
          </a:p>
          <a:p>
            <a:pPr marL="0" indent="0" algn="ctr">
              <a:buNone/>
            </a:pPr>
            <a:r>
              <a:rPr lang="en-US" altLang="en-US" sz="3600"/>
              <a:t>High Bias→Underfitting</a:t>
            </a:r>
            <a:endParaRPr lang="en-US" altLang="en-US" sz="3600"/>
          </a:p>
        </p:txBody>
      </p:sp>
    </p:spTree>
    <p:custDataLst>
      <p:tags r:id="rId3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Types of Bias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1. High Bias</a:t>
            </a:r>
            <a:endParaRPr lang="en-US" altLang="en-US"/>
          </a:p>
          <a:p>
            <a:pPr lvl="1"/>
            <a:r>
              <a:rPr lang="en-US" altLang="en-US"/>
              <a:t>A high-bias model makes strong or overly simple assumptions.</a:t>
            </a:r>
            <a:endParaRPr lang="en-US" altLang="en-US"/>
          </a:p>
          <a:p>
            <a:pPr lvl="1"/>
            <a:r>
              <a:rPr lang="en-US" altLang="en-US"/>
              <a:t>Characteristics:</a:t>
            </a:r>
            <a:endParaRPr lang="en-US" altLang="en-US"/>
          </a:p>
          <a:p>
            <a:pPr lvl="1"/>
            <a:r>
              <a:rPr lang="en-US" altLang="en-US"/>
              <a:t>Model is too simple.</a:t>
            </a:r>
            <a:endParaRPr lang="en-US" altLang="en-US"/>
          </a:p>
          <a:p>
            <a:pPr lvl="1"/>
            <a:r>
              <a:rPr lang="en-US" altLang="en-US"/>
              <a:t>Cannot capture important patterns.</a:t>
            </a:r>
            <a:endParaRPr lang="en-US" altLang="en-US"/>
          </a:p>
          <a:p>
            <a:pPr lvl="1"/>
            <a:r>
              <a:rPr lang="en-US" altLang="en-US"/>
              <a:t>Training error is high.</a:t>
            </a:r>
            <a:endParaRPr lang="en-US" altLang="en-US"/>
          </a:p>
          <a:p>
            <a:pPr lvl="1"/>
            <a:r>
              <a:rPr lang="en-US" altLang="en-US"/>
              <a:t>Test error is also generally high.</a:t>
            </a:r>
            <a:endParaRPr lang="en-US" altLang="en-US"/>
          </a:p>
          <a:p>
            <a:r>
              <a:rPr lang="en-US" altLang="en-US"/>
              <a:t>Example: Using a simple linear model for data with a strongly nonlinear relationship.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Types of Bias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2. Low Bias</a:t>
            </a:r>
            <a:endParaRPr lang="en-US" altLang="en-US"/>
          </a:p>
          <a:p>
            <a:pPr lvl="1"/>
            <a:r>
              <a:rPr lang="en-US" altLang="en-US"/>
              <a:t>A low-bias model makes fewer restrictive assumptions and can represent more complex relationships.</a:t>
            </a:r>
            <a:endParaRPr lang="en-US" altLang="en-US"/>
          </a:p>
          <a:p>
            <a:pPr lvl="1"/>
            <a:r>
              <a:rPr lang="en-US" altLang="en-US"/>
              <a:t>Characteristics:</a:t>
            </a:r>
            <a:endParaRPr lang="en-US" altLang="en-US"/>
          </a:p>
          <a:p>
            <a:pPr lvl="1"/>
            <a:r>
              <a:rPr lang="en-US" altLang="en-US"/>
              <a:t>Can capture complex patterns.</a:t>
            </a:r>
            <a:endParaRPr lang="en-US" altLang="en-US"/>
          </a:p>
          <a:p>
            <a:pPr lvl="1"/>
            <a:r>
              <a:rPr lang="en-US" altLang="en-US"/>
              <a:t>Training error can be low.</a:t>
            </a:r>
            <a:endParaRPr lang="en-US" altLang="en-US"/>
          </a:p>
          <a:p>
            <a:r>
              <a:rPr lang="en-US" altLang="en-US"/>
              <a:t>If the model is excessively flexible, it may become sensitive to training data, leading to high variance.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8330" y="608330"/>
            <a:ext cx="5688330" cy="576707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4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68020" y="465455"/>
            <a:ext cx="10503535" cy="39389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Bias–Variance Tradeoff</a:t>
            </a:r>
            <a:endParaRPr lang="en-US" alt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2.8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Introduction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The Bias–Variance Tradeoff describes the balance between two sources of prediction error:</a:t>
            </a:r>
            <a:endParaRPr lang="en-US" altLang="en-US"/>
          </a:p>
          <a:p>
            <a:r>
              <a:rPr lang="en-US" altLang="en-US"/>
              <a:t>Bias → error from an overly simple model.</a:t>
            </a:r>
            <a:endParaRPr lang="en-US" altLang="en-US"/>
          </a:p>
          <a:p>
            <a:r>
              <a:rPr lang="en-US" altLang="en-US"/>
              <a:t>Variance → error from a model that is too sensitive to the training data.</a:t>
            </a:r>
            <a:endParaRPr lang="en-US" altLang="en-US"/>
          </a:p>
          <a:p>
            <a:r>
              <a:rPr lang="en-US" altLang="en-US"/>
              <a:t>The goal is to build a model that has low enough bias and low enough variance so that it generalizes well to unseen data.</a:t>
            </a:r>
            <a:endParaRPr lang="en-US" altLang="en-US"/>
          </a:p>
          <a:p>
            <a:r>
              <a:rPr lang="en-US" altLang="en-US"/>
              <a:t>High Bias means the model is too simple and cannot capture the underlying patterns.</a:t>
            </a:r>
            <a:endParaRPr lang="en-US" altLang="en-US"/>
          </a:p>
          <a:p>
            <a:pPr marL="0" indent="0" algn="ctr">
              <a:buNone/>
            </a:pPr>
            <a:r>
              <a:rPr lang="en-US" altLang="en-US" sz="2800"/>
              <a:t>High Bias→Underfitting</a:t>
            </a:r>
            <a:endParaRPr lang="en-US" altLang="en-US" sz="28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3800" y="4635500"/>
            <a:ext cx="3378200" cy="22225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608330"/>
            <a:ext cx="10968355" cy="58439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071370" y="0"/>
            <a:ext cx="7640955" cy="67259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Thank you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Vraj Suratwala</a:t>
            </a:r>
            <a:endParaRPr lang="en-US"/>
          </a:p>
          <a:p>
            <a:r>
              <a:rPr lang="en-US"/>
              <a:t>Department of ICT, VNSGU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TABLE_ENDDRAG_ORIGIN_RECT" val="825*350"/>
  <p:tag name="TABLE_ENDDRAG_RECT" val="67*103*825*350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5982</Words>
  <Application>WPS Presentation</Application>
  <PresentationFormat>Widescreen</PresentationFormat>
  <Paragraphs>248</Paragraphs>
  <Slides>55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68" baseType="lpstr">
      <vt:lpstr>Arial</vt:lpstr>
      <vt:lpstr>SimSun</vt:lpstr>
      <vt:lpstr>Wingdings</vt:lpstr>
      <vt:lpstr>Wingdings</vt:lpstr>
      <vt:lpstr>Microsoft YaHei</vt:lpstr>
      <vt:lpstr>汉仪旗黑</vt:lpstr>
      <vt:lpstr>Arial Unicode MS</vt:lpstr>
      <vt:lpstr>Calibri</vt:lpstr>
      <vt:lpstr>Helvetica Neue</vt:lpstr>
      <vt:lpstr>宋体-简</vt:lpstr>
      <vt:lpstr>Arial Bold</vt:lpstr>
      <vt:lpstr>Arial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</dc:title>
  <dc:creator>suratwalavraj</dc:creator>
  <cp:lastModifiedBy>Vraj Suratwala</cp:lastModifiedBy>
  <cp:revision>43</cp:revision>
  <dcterms:created xsi:type="dcterms:W3CDTF">2026-09-01T10:28:04Z</dcterms:created>
  <dcterms:modified xsi:type="dcterms:W3CDTF">2026-09-01T10:28:04Z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1033-12.1.26015.26015</vt:lpwstr>
  </property>
  <property fmtid="{D5CDD505-2E9C-101B-9397-08002B2CF9AE}" pid="3" name="ICV">
    <vt:lpwstr>008460D0E128EB45D36C966A65244331_41</vt:lpwstr>
  </property>
</Properties>
</file>